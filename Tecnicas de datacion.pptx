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Open Sans" charset="1" panose="020B0606030504020204"/>
      <p:regular r:id="rId21"/>
    </p:embeddedFont>
    <p:embeddedFont>
      <p:font typeface="Abramo" charset="1" panose="02010504020101010102"/>
      <p:regular r:id="rId22"/>
    </p:embeddedFont>
    <p:embeddedFont>
      <p:font typeface="Beth Ellen" charset="1" panose="00000000000000000000"/>
      <p:regular r:id="rId23"/>
    </p:embeddedFont>
    <p:embeddedFont>
      <p:font typeface="Cormorant Garamond Bold" charset="1" panose="00000800000000000000"/>
      <p:regular r:id="rId24"/>
    </p:embeddedFont>
    <p:embeddedFont>
      <p:font typeface="Open Sauce Bold" charset="1" panose="00000800000000000000"/>
      <p:regular r:id="rId25"/>
    </p:embeddedFont>
    <p:embeddedFont>
      <p:font typeface="Open Sauce" charset="1" panose="00000500000000000000"/>
      <p:regular r:id="rId26"/>
    </p:embeddedFont>
    <p:embeddedFont>
      <p:font typeface="Open Sauce Semi-Bold" charset="1" panose="00000700000000000000"/>
      <p:regular r:id="rId27"/>
    </p:embeddedFont>
    <p:embeddedFont>
      <p:font typeface="Poppin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url?sa=i&amp;source=web&amp;rct=j&amp;url=https://www.colorado.edu/earthscience/robert-anderson&amp;ved=2ahUKEwjH5c6Ai8uWAxV8lYkEHapmN70Qy_kOeggIAggBCAoQAw&amp;opi=89978449&amp;cd&amp;psig=AOvVaw0LXsVpPlIlfEd_a_7y8T36&amp;ust=1788273217967000" TargetMode="External" Type="http://schemas.openxmlformats.org/officeDocument/2006/relationships/hyperlink"/><Relationship Id="rId3" Target="https://www.google.com/url?sa=i&amp;source=web&amp;rct=j&amp;url=https://www.cambridge.org/highereducation/books/geomorphology/5A93557492097E08FA34F93E943E67C4&amp;ved=2ahUKEwjH5c6Ai8uWAxV8lYkEHapmN70Qy_kOeggIAggBCAoQBA&amp;opi=89978449&amp;cd&amp;psig=AOvVaw0LXsVpPlIlfEd_a_7y8T36&amp;ust=1788273217967000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4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222" r="0" b="-1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07435" y="7411959"/>
            <a:ext cx="13473131" cy="6265006"/>
          </a:xfrm>
          <a:custGeom>
            <a:avLst/>
            <a:gdLst/>
            <a:ahLst/>
            <a:cxnLst/>
            <a:rect r="r" b="b" t="t" l="l"/>
            <a:pathLst>
              <a:path h="6265006" w="13473131">
                <a:moveTo>
                  <a:pt x="0" y="0"/>
                </a:moveTo>
                <a:lnTo>
                  <a:pt x="13473130" y="0"/>
                </a:lnTo>
                <a:lnTo>
                  <a:pt x="13473130" y="6265006"/>
                </a:lnTo>
                <a:lnTo>
                  <a:pt x="0" y="6265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3740" y="5863258"/>
            <a:ext cx="14140520" cy="85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6"/>
              </a:lnSpc>
            </a:pPr>
            <a:r>
              <a:rPr lang="en-US" sz="579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Relativas y Absolutas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73740" y="1430330"/>
            <a:ext cx="14140520" cy="440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84"/>
              </a:lnSpc>
            </a:pPr>
            <a:r>
              <a:rPr lang="en-US" sz="15699" b="true">
                <a:solidFill>
                  <a:srgbClr val="F8F7F5"/>
                </a:solidFill>
                <a:latin typeface="Poppins Bold"/>
                <a:ea typeface="Poppins Bold"/>
                <a:cs typeface="Poppins Bold"/>
                <a:sym typeface="Poppins Bold"/>
              </a:rPr>
              <a:t>Técnicas de Datación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439907" y="261113"/>
            <a:ext cx="9694683" cy="40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77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Geomorfología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35678" y="328604"/>
            <a:ext cx="255716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ROSAMALIA ABREU 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t="0" r="-319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255818" y="-8759648"/>
            <a:ext cx="1628630" cy="18870298"/>
            <a:chOff x="0" y="0"/>
            <a:chExt cx="428940" cy="49699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8940" cy="4969955"/>
            </a:xfrm>
            <a:custGeom>
              <a:avLst/>
              <a:gdLst/>
              <a:ahLst/>
              <a:cxnLst/>
              <a:rect r="r" b="b" t="t" l="l"/>
              <a:pathLst>
                <a:path h="4969955" w="428940">
                  <a:moveTo>
                    <a:pt x="0" y="0"/>
                  </a:moveTo>
                  <a:lnTo>
                    <a:pt x="428940" y="0"/>
                  </a:lnTo>
                  <a:lnTo>
                    <a:pt x="428940" y="4969955"/>
                  </a:lnTo>
                  <a:lnTo>
                    <a:pt x="0" y="4969955"/>
                  </a:lnTo>
                  <a:close/>
                </a:path>
              </a:pathLst>
            </a:custGeom>
            <a:gradFill rotWithShape="true">
              <a:gsLst>
                <a:gs pos="0">
                  <a:srgbClr val="000D27">
                    <a:alpha val="88000"/>
                  </a:srgbClr>
                </a:gs>
                <a:gs pos="100000">
                  <a:srgbClr val="193E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8940" cy="5008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945423" y="-635540"/>
            <a:ext cx="5823838" cy="246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3"/>
              </a:lnSpc>
            </a:pPr>
            <a:r>
              <a:rPr lang="en-US" sz="3807">
                <a:solidFill>
                  <a:srgbClr val="5B8AA0"/>
                </a:solidFill>
                <a:latin typeface="Abramo"/>
                <a:ea typeface="Abramo"/>
                <a:cs typeface="Abramo"/>
                <a:sym typeface="Abramo"/>
              </a:rPr>
              <a:t>La Geografía nos permite entender nuestro entorno, anticipar riesgos naturales, gestionar los recursos y analizar los fenómenos globales que influyen en la vida diaria. Es una herramienta para ser ciudadanos informados y responsables.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9665" y="615209"/>
            <a:ext cx="3163722" cy="8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3303">
                <a:solidFill>
                  <a:srgbClr val="7EB5CF"/>
                </a:solidFill>
                <a:latin typeface="Abramo"/>
                <a:ea typeface="Abramo"/>
                <a:cs typeface="Abramo"/>
                <a:sym typeface="Abramo"/>
              </a:rPr>
              <a:t>Map</a:t>
            </a:r>
            <a:r>
              <a:rPr lang="en-US" sz="3303">
                <a:solidFill>
                  <a:srgbClr val="7EB5CF"/>
                </a:solidFill>
                <a:latin typeface="Abramo"/>
                <a:ea typeface="Abramo"/>
                <a:cs typeface="Abramo"/>
                <a:sym typeface="Abramo"/>
              </a:rPr>
              <a:t>a: herramienta fundamental para representar la realidad.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556663" y="3602246"/>
            <a:ext cx="19646923" cy="7213854"/>
            <a:chOff x="0" y="0"/>
            <a:chExt cx="26195897" cy="96184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93587" cy="9618471"/>
            </a:xfrm>
            <a:custGeom>
              <a:avLst/>
              <a:gdLst/>
              <a:ahLst/>
              <a:cxnLst/>
              <a:rect r="r" b="b" t="t" l="l"/>
              <a:pathLst>
                <a:path h="9618471" w="14493587">
                  <a:moveTo>
                    <a:pt x="0" y="0"/>
                  </a:moveTo>
                  <a:lnTo>
                    <a:pt x="14493587" y="0"/>
                  </a:lnTo>
                  <a:lnTo>
                    <a:pt x="14493587" y="9618471"/>
                  </a:lnTo>
                  <a:lnTo>
                    <a:pt x="0" y="961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702310" y="0"/>
              <a:ext cx="14493587" cy="9618471"/>
            </a:xfrm>
            <a:custGeom>
              <a:avLst/>
              <a:gdLst/>
              <a:ahLst/>
              <a:cxnLst/>
              <a:rect r="r" b="b" t="t" l="l"/>
              <a:pathLst>
                <a:path h="9618471" w="14493587">
                  <a:moveTo>
                    <a:pt x="0" y="0"/>
                  </a:moveTo>
                  <a:lnTo>
                    <a:pt x="14493587" y="0"/>
                  </a:lnTo>
                  <a:lnTo>
                    <a:pt x="14493587" y="9618471"/>
                  </a:lnTo>
                  <a:lnTo>
                    <a:pt x="0" y="961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862561" y="1752789"/>
            <a:ext cx="2262007" cy="2262007"/>
          </a:xfrm>
          <a:custGeom>
            <a:avLst/>
            <a:gdLst/>
            <a:ahLst/>
            <a:cxnLst/>
            <a:rect r="r" b="b" t="t" l="l"/>
            <a:pathLst>
              <a:path h="2262007" w="2262007">
                <a:moveTo>
                  <a:pt x="0" y="0"/>
                </a:moveTo>
                <a:lnTo>
                  <a:pt x="2262007" y="0"/>
                </a:lnTo>
                <a:lnTo>
                  <a:pt x="2262007" y="2262007"/>
                </a:lnTo>
                <a:lnTo>
                  <a:pt x="0" y="22620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222474" y="1214650"/>
            <a:ext cx="11843051" cy="106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72"/>
              </a:lnSpc>
              <a:spcBef>
                <a:spcPct val="0"/>
              </a:spcBef>
            </a:pPr>
            <a:r>
              <a:rPr lang="en-US" sz="6944">
                <a:solidFill>
                  <a:srgbClr val="EEF4FF"/>
                </a:solidFill>
                <a:latin typeface="Beth Ellen"/>
                <a:ea typeface="Beth Ellen"/>
                <a:cs typeface="Beth Ellen"/>
                <a:sym typeface="Beth Ellen"/>
              </a:rPr>
              <a:t>Índice de contenidos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032954" y="4629011"/>
          <a:ext cx="6074357" cy="4821627"/>
        </p:xfrm>
        <a:graphic>
          <a:graphicData uri="http://schemas.openxmlformats.org/drawingml/2006/table">
            <a:tbl>
              <a:tblPr/>
              <a:tblGrid>
                <a:gridCol w="460621"/>
                <a:gridCol w="2321698"/>
              </a:tblGrid>
              <a:tr h="125322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03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99">
                          <a:solidFill>
                            <a:srgbClr val="EEF4FF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1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26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68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 </a:t>
                      </a: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El</a:t>
                      </a: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 Principio de Conservación o Continuidad. 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96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03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99">
                          <a:solidFill>
                            <a:srgbClr val="EEF4FF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2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80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68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El tie</a:t>
                      </a: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mpo geológico 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06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03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99">
                          <a:solidFill>
                            <a:srgbClr val="EEF4FF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3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26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68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A</a:t>
                      </a: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ctualismo y Uniformismo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06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03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99">
                          <a:solidFill>
                            <a:srgbClr val="EEF4FF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4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80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68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La da</a:t>
                      </a: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tación relativa 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31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03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99">
                          <a:solidFill>
                            <a:srgbClr val="EEF4FF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5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26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68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 </a:t>
                      </a: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La Datac</a:t>
                      </a:r>
                      <a:r>
                        <a:rPr lang="en-US" b="true" sz="2684">
                          <a:solidFill>
                            <a:srgbClr val="01344D"/>
                          </a:solidFill>
                          <a:latin typeface="Cormorant Garamond Bold"/>
                          <a:ea typeface="Cormorant Garamond Bold"/>
                          <a:cs typeface="Cormorant Garamond Bold"/>
                          <a:sym typeface="Cormorant Garamond Bold"/>
                        </a:rPr>
                        <a:t>ión Absoluta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2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9779" y="2150943"/>
            <a:ext cx="5142848" cy="102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b="true" sz="3297" spc="3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Robert y Suzanne Anderson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31787" y="5086350"/>
            <a:ext cx="9201930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Pero para entender c</a:t>
            </a: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uánto tiempo necesitan estos procesos para cambiar un paisaje, primero tenemos que hablar del tiempo geológico.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497241" y="3174306"/>
            <a:ext cx="7471021" cy="1380102"/>
            <a:chOff x="0" y="0"/>
            <a:chExt cx="9961362" cy="18401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9961362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6" indent="-345438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Las f</a:t>
              </a:r>
              <a:r>
                <a:rPr lang="en-US" sz="31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uerzas internas de la Tierra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32534"/>
              <a:ext cx="966128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6" indent="-345438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Radiación Solar y E</a:t>
              </a:r>
              <a:r>
                <a:rPr lang="en-US" sz="31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 Clima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780628" y="1073347"/>
            <a:ext cx="10317063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b="true" sz="369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El Pri</a:t>
            </a:r>
            <a:r>
              <a:rPr lang="en-US" b="true" sz="369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ncipio de Conservación o Continuidad.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4616" y="3289264"/>
            <a:ext cx="4213172" cy="568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dos destacados geomorfólogos y profesores de la </a:t>
            </a:r>
            <a:r>
              <a:rPr lang="en-US" sz="2497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2" tooltip="https://www.google.com/url?sa=i&amp;source=web&amp;rct=j&amp;url=https://www.colorado.edu/earthscience/robert-anderson&amp;ved=2ahUKEwjH5c6Ai8uWAxV8lYkEHapmN70Qy_kOeggIAggBCAoQAw&amp;opi=89978449&amp;cd&amp;psig=AOvVaw0LXsVpPlIlfEd_a_7y8T36&amp;ust=1788273217967000"/>
              </a:rPr>
              <a:t>University of Colorado Boulder</a:t>
            </a:r>
            <a:r>
              <a:rPr lang="en-US" sz="2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Son ampliamente reconocidos en la comunidad científica por ser los autores del aclamado libro de t</a:t>
            </a:r>
            <a:r>
              <a:rPr lang="en-US" sz="2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exto académico titulado Geomorphology: The Mechanics and Chemistry of Landscapes, publicado por </a:t>
            </a:r>
            <a:r>
              <a:rPr lang="en-US" sz="2497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google.com/url?sa=i&amp;source=web&amp;rct=j&amp;url=https://www.cambridge.org/highereducation/books/geomorphology/5A93557492097E08FA34F93E943E67C4&amp;ved=2ahUKEwjH5c6Ai8uWAxV8lYkEHapmN70Qy_kOeggIAggBCAoQBA&amp;opi=89978449&amp;cd&amp;psig=AOvVaw0LXsVpPlIlfEd_a_7y8T36&amp;ust=1788273217967000"/>
              </a:rPr>
              <a:t>Cambridge University Press</a:t>
            </a:r>
            <a:r>
              <a:rPr lang="en-US" sz="2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4527" y="2375115"/>
            <a:ext cx="4628217" cy="6147319"/>
            <a:chOff x="0" y="0"/>
            <a:chExt cx="1777516" cy="2360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7516" cy="2360943"/>
            </a:xfrm>
            <a:custGeom>
              <a:avLst/>
              <a:gdLst/>
              <a:ahLst/>
              <a:cxnLst/>
              <a:rect r="r" b="b" t="t" l="l"/>
              <a:pathLst>
                <a:path h="2360943" w="1777516">
                  <a:moveTo>
                    <a:pt x="61892" y="0"/>
                  </a:moveTo>
                  <a:lnTo>
                    <a:pt x="1715624" y="0"/>
                  </a:lnTo>
                  <a:cubicBezTo>
                    <a:pt x="1749806" y="0"/>
                    <a:pt x="1777516" y="27710"/>
                    <a:pt x="1777516" y="61892"/>
                  </a:cubicBezTo>
                  <a:lnTo>
                    <a:pt x="1777516" y="2299051"/>
                  </a:lnTo>
                  <a:cubicBezTo>
                    <a:pt x="1777516" y="2333233"/>
                    <a:pt x="1749806" y="2360943"/>
                    <a:pt x="1715624" y="2360943"/>
                  </a:cubicBezTo>
                  <a:lnTo>
                    <a:pt x="61892" y="2360943"/>
                  </a:lnTo>
                  <a:cubicBezTo>
                    <a:pt x="45477" y="2360943"/>
                    <a:pt x="29735" y="2354423"/>
                    <a:pt x="18128" y="2342816"/>
                  </a:cubicBezTo>
                  <a:cubicBezTo>
                    <a:pt x="6521" y="2331208"/>
                    <a:pt x="0" y="2315466"/>
                    <a:pt x="0" y="2299051"/>
                  </a:cubicBezTo>
                  <a:lnTo>
                    <a:pt x="0" y="61892"/>
                  </a:lnTo>
                  <a:cubicBezTo>
                    <a:pt x="0" y="27710"/>
                    <a:pt x="27710" y="0"/>
                    <a:pt x="61892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77516" cy="2360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0611" y="2375115"/>
            <a:ext cx="4586778" cy="6147319"/>
            <a:chOff x="0" y="0"/>
            <a:chExt cx="1761601" cy="23609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1601" cy="2360943"/>
            </a:xfrm>
            <a:custGeom>
              <a:avLst/>
              <a:gdLst/>
              <a:ahLst/>
              <a:cxnLst/>
              <a:rect r="r" b="b" t="t" l="l"/>
              <a:pathLst>
                <a:path h="2360943" w="1761601">
                  <a:moveTo>
                    <a:pt x="62451" y="0"/>
                  </a:moveTo>
                  <a:lnTo>
                    <a:pt x="1699149" y="0"/>
                  </a:lnTo>
                  <a:cubicBezTo>
                    <a:pt x="1715713" y="0"/>
                    <a:pt x="1731597" y="6580"/>
                    <a:pt x="1743309" y="18292"/>
                  </a:cubicBezTo>
                  <a:cubicBezTo>
                    <a:pt x="1755021" y="30004"/>
                    <a:pt x="1761601" y="45888"/>
                    <a:pt x="1761601" y="62451"/>
                  </a:cubicBezTo>
                  <a:lnTo>
                    <a:pt x="1761601" y="2298492"/>
                  </a:lnTo>
                  <a:cubicBezTo>
                    <a:pt x="1761601" y="2332983"/>
                    <a:pt x="1733640" y="2360943"/>
                    <a:pt x="1699149" y="2360943"/>
                  </a:cubicBezTo>
                  <a:lnTo>
                    <a:pt x="62451" y="2360943"/>
                  </a:lnTo>
                  <a:cubicBezTo>
                    <a:pt x="27960" y="2360943"/>
                    <a:pt x="0" y="2332983"/>
                    <a:pt x="0" y="2298492"/>
                  </a:cubicBezTo>
                  <a:lnTo>
                    <a:pt x="0" y="62451"/>
                  </a:lnTo>
                  <a:cubicBezTo>
                    <a:pt x="0" y="27960"/>
                    <a:pt x="27960" y="0"/>
                    <a:pt x="62451" y="0"/>
                  </a:cubicBezTo>
                  <a:close/>
                </a:path>
              </a:pathLst>
            </a:custGeom>
            <a:solidFill>
              <a:srgbClr val="EE5C66"/>
            </a:solidFill>
            <a:ln cap="rnd">
              <a:noFill/>
              <a:prstDash val="lg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61601" cy="2360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0814" y="2375115"/>
            <a:ext cx="4586778" cy="6147319"/>
            <a:chOff x="0" y="0"/>
            <a:chExt cx="1761601" cy="2360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1601" cy="2360943"/>
            </a:xfrm>
            <a:custGeom>
              <a:avLst/>
              <a:gdLst/>
              <a:ahLst/>
              <a:cxnLst/>
              <a:rect r="r" b="b" t="t" l="l"/>
              <a:pathLst>
                <a:path h="2360943" w="1761601">
                  <a:moveTo>
                    <a:pt x="62451" y="0"/>
                  </a:moveTo>
                  <a:lnTo>
                    <a:pt x="1699149" y="0"/>
                  </a:lnTo>
                  <a:cubicBezTo>
                    <a:pt x="1715713" y="0"/>
                    <a:pt x="1731597" y="6580"/>
                    <a:pt x="1743309" y="18292"/>
                  </a:cubicBezTo>
                  <a:cubicBezTo>
                    <a:pt x="1755021" y="30004"/>
                    <a:pt x="1761601" y="45888"/>
                    <a:pt x="1761601" y="62451"/>
                  </a:cubicBezTo>
                  <a:lnTo>
                    <a:pt x="1761601" y="2298492"/>
                  </a:lnTo>
                  <a:cubicBezTo>
                    <a:pt x="1761601" y="2332983"/>
                    <a:pt x="1733640" y="2360943"/>
                    <a:pt x="1699149" y="2360943"/>
                  </a:cubicBezTo>
                  <a:lnTo>
                    <a:pt x="62451" y="2360943"/>
                  </a:lnTo>
                  <a:cubicBezTo>
                    <a:pt x="27960" y="2360943"/>
                    <a:pt x="0" y="2332983"/>
                    <a:pt x="0" y="2298492"/>
                  </a:cubicBezTo>
                  <a:lnTo>
                    <a:pt x="0" y="62451"/>
                  </a:lnTo>
                  <a:cubicBezTo>
                    <a:pt x="0" y="27960"/>
                    <a:pt x="27960" y="0"/>
                    <a:pt x="62451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61601" cy="2360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84527" y="2375115"/>
            <a:ext cx="4632659" cy="6147319"/>
          </a:xfrm>
          <a:custGeom>
            <a:avLst/>
            <a:gdLst/>
            <a:ahLst/>
            <a:cxnLst/>
            <a:rect r="r" b="b" t="t" l="l"/>
            <a:pathLst>
              <a:path h="6147319" w="4632659">
                <a:moveTo>
                  <a:pt x="0" y="0"/>
                </a:moveTo>
                <a:lnTo>
                  <a:pt x="4632659" y="0"/>
                </a:lnTo>
                <a:lnTo>
                  <a:pt x="4632659" y="6147320"/>
                </a:lnTo>
                <a:lnTo>
                  <a:pt x="0" y="614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59997" t="0" r="-4297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69473" y="2379791"/>
            <a:ext cx="4567916" cy="6142644"/>
          </a:xfrm>
          <a:custGeom>
            <a:avLst/>
            <a:gdLst/>
            <a:ahLst/>
            <a:cxnLst/>
            <a:rect r="r" b="b" t="t" l="l"/>
            <a:pathLst>
              <a:path h="6142644" w="4567916">
                <a:moveTo>
                  <a:pt x="0" y="0"/>
                </a:moveTo>
                <a:lnTo>
                  <a:pt x="4567916" y="0"/>
                </a:lnTo>
                <a:lnTo>
                  <a:pt x="4567916" y="6142644"/>
                </a:lnTo>
                <a:lnTo>
                  <a:pt x="0" y="614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-6123" r="0" b="-612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70814" y="2379791"/>
            <a:ext cx="4583867" cy="6158967"/>
          </a:xfrm>
          <a:custGeom>
            <a:avLst/>
            <a:gdLst/>
            <a:ahLst/>
            <a:cxnLst/>
            <a:rect r="r" b="b" t="t" l="l"/>
            <a:pathLst>
              <a:path h="6158967" w="4583867">
                <a:moveTo>
                  <a:pt x="0" y="0"/>
                </a:moveTo>
                <a:lnTo>
                  <a:pt x="4583867" y="0"/>
                </a:lnTo>
                <a:lnTo>
                  <a:pt x="4583867" y="6158967"/>
                </a:lnTo>
                <a:lnTo>
                  <a:pt x="0" y="6158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-45689" t="0" r="-5673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4527" y="9263352"/>
            <a:ext cx="4628217" cy="30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399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 Arzobispo James Ussher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4527" y="8753195"/>
            <a:ext cx="4628217" cy="39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3099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XVII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29891" y="9263352"/>
            <a:ext cx="4628217" cy="30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399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Lord Kelvin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29891" y="8753195"/>
            <a:ext cx="4628217" cy="39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3099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 XIX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75256" y="9263352"/>
            <a:ext cx="4628217" cy="30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399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 física nuclear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75256" y="8753195"/>
            <a:ext cx="4628217" cy="39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3099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099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XX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1163825" y="769172"/>
            <a:ext cx="14140520" cy="101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b="true" sz="6996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El tiempo geológico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2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43212" y="3784100"/>
            <a:ext cx="2713382" cy="5132758"/>
            <a:chOff x="0" y="0"/>
            <a:chExt cx="1042103" cy="1971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2103" cy="1971290"/>
            </a:xfrm>
            <a:custGeom>
              <a:avLst/>
              <a:gdLst/>
              <a:ahLst/>
              <a:cxnLst/>
              <a:rect r="r" b="b" t="t" l="l"/>
              <a:pathLst>
                <a:path h="1971290" w="1042103">
                  <a:moveTo>
                    <a:pt x="105570" y="0"/>
                  </a:moveTo>
                  <a:lnTo>
                    <a:pt x="936533" y="0"/>
                  </a:lnTo>
                  <a:cubicBezTo>
                    <a:pt x="964532" y="0"/>
                    <a:pt x="991384" y="11122"/>
                    <a:pt x="1011182" y="30921"/>
                  </a:cubicBezTo>
                  <a:cubicBezTo>
                    <a:pt x="1030981" y="50719"/>
                    <a:pt x="1042103" y="77571"/>
                    <a:pt x="1042103" y="105570"/>
                  </a:cubicBezTo>
                  <a:lnTo>
                    <a:pt x="1042103" y="1865720"/>
                  </a:lnTo>
                  <a:cubicBezTo>
                    <a:pt x="1042103" y="1893719"/>
                    <a:pt x="1030981" y="1920571"/>
                    <a:pt x="1011182" y="1940370"/>
                  </a:cubicBezTo>
                  <a:cubicBezTo>
                    <a:pt x="991384" y="1960168"/>
                    <a:pt x="964532" y="1971290"/>
                    <a:pt x="936533" y="1971290"/>
                  </a:cubicBezTo>
                  <a:lnTo>
                    <a:pt x="105570" y="1971290"/>
                  </a:lnTo>
                  <a:cubicBezTo>
                    <a:pt x="77571" y="1971290"/>
                    <a:pt x="50719" y="1960168"/>
                    <a:pt x="30921" y="1940370"/>
                  </a:cubicBezTo>
                  <a:cubicBezTo>
                    <a:pt x="11122" y="1920571"/>
                    <a:pt x="0" y="1893719"/>
                    <a:pt x="0" y="1865720"/>
                  </a:cubicBezTo>
                  <a:lnTo>
                    <a:pt x="0" y="105570"/>
                  </a:lnTo>
                  <a:cubicBezTo>
                    <a:pt x="0" y="77571"/>
                    <a:pt x="11122" y="50719"/>
                    <a:pt x="30921" y="30921"/>
                  </a:cubicBezTo>
                  <a:cubicBezTo>
                    <a:pt x="50719" y="11122"/>
                    <a:pt x="77571" y="0"/>
                    <a:pt x="105570" y="0"/>
                  </a:cubicBezTo>
                  <a:close/>
                </a:path>
              </a:pathLst>
            </a:custGeom>
            <a:solidFill>
              <a:srgbClr val="EE5C66"/>
            </a:solidFill>
            <a:ln cap="rnd">
              <a:noFill/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42103" cy="1971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54370" y="3788003"/>
            <a:ext cx="2702224" cy="5128854"/>
          </a:xfrm>
          <a:custGeom>
            <a:avLst/>
            <a:gdLst/>
            <a:ahLst/>
            <a:cxnLst/>
            <a:rect r="r" b="b" t="t" l="l"/>
            <a:pathLst>
              <a:path h="5128854" w="2702224">
                <a:moveTo>
                  <a:pt x="0" y="0"/>
                </a:moveTo>
                <a:lnTo>
                  <a:pt x="2702224" y="0"/>
                </a:lnTo>
                <a:lnTo>
                  <a:pt x="2702224" y="5128855"/>
                </a:lnTo>
                <a:lnTo>
                  <a:pt x="0" y="512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12871" t="0" r="-1287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4029" y="2588829"/>
            <a:ext cx="15102565" cy="95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36"/>
              </a:lnSpc>
            </a:pPr>
            <a:r>
              <a:rPr lang="en-US" sz="7543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 James Hutton,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4029" y="1440508"/>
            <a:ext cx="15102565" cy="123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84"/>
              </a:lnSpc>
            </a:pPr>
            <a:r>
              <a:rPr lang="en-US" sz="9743" b="true">
                <a:solidFill>
                  <a:srgbClr val="F8F7F5"/>
                </a:solidFill>
                <a:latin typeface="Poppins Bold"/>
                <a:ea typeface="Poppins Bold"/>
                <a:cs typeface="Poppins Bold"/>
                <a:sym typeface="Poppins Bold"/>
              </a:rPr>
              <a:t>Actualismo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3691" y="3969912"/>
            <a:ext cx="10421601" cy="538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30"/>
              </a:lnSpc>
            </a:pPr>
            <a:r>
              <a:rPr lang="en-US" sz="7179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el cual establece que los procesos físicos y mecánicos que actúan hoy sobre la superficie terrestre son los mismos que actuaron en el pasado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8624474">
            <a:off x="-1891968" y="-2900"/>
            <a:ext cx="3783936" cy="4802458"/>
          </a:xfrm>
          <a:custGeom>
            <a:avLst/>
            <a:gdLst/>
            <a:ahLst/>
            <a:cxnLst/>
            <a:rect r="r" b="b" t="t" l="l"/>
            <a:pathLst>
              <a:path h="4802458" w="3783936">
                <a:moveTo>
                  <a:pt x="0" y="4802457"/>
                </a:moveTo>
                <a:lnTo>
                  <a:pt x="3783936" y="4802457"/>
                </a:lnTo>
                <a:lnTo>
                  <a:pt x="3783936" y="0"/>
                </a:lnTo>
                <a:lnTo>
                  <a:pt x="0" y="0"/>
                </a:lnTo>
                <a:lnTo>
                  <a:pt x="0" y="48024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40020" y="4293079"/>
            <a:ext cx="1028700" cy="4114800"/>
          </a:xfrm>
          <a:custGeom>
            <a:avLst/>
            <a:gdLst/>
            <a:ahLst/>
            <a:cxnLst/>
            <a:rect r="r" b="b" t="t" l="l"/>
            <a:pathLst>
              <a:path h="4114800" w="10287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4029" y="3955284"/>
            <a:ext cx="2708184" cy="5132758"/>
            <a:chOff x="0" y="0"/>
            <a:chExt cx="1040107" cy="1971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107" cy="1971290"/>
            </a:xfrm>
            <a:custGeom>
              <a:avLst/>
              <a:gdLst/>
              <a:ahLst/>
              <a:cxnLst/>
              <a:rect r="r" b="b" t="t" l="l"/>
              <a:pathLst>
                <a:path h="1971290" w="1040107">
                  <a:moveTo>
                    <a:pt x="105772" y="0"/>
                  </a:moveTo>
                  <a:lnTo>
                    <a:pt x="934335" y="0"/>
                  </a:lnTo>
                  <a:cubicBezTo>
                    <a:pt x="962387" y="0"/>
                    <a:pt x="989291" y="11144"/>
                    <a:pt x="1009127" y="30980"/>
                  </a:cubicBezTo>
                  <a:cubicBezTo>
                    <a:pt x="1028963" y="50816"/>
                    <a:pt x="1040107" y="77720"/>
                    <a:pt x="1040107" y="105772"/>
                  </a:cubicBezTo>
                  <a:lnTo>
                    <a:pt x="1040107" y="1865518"/>
                  </a:lnTo>
                  <a:cubicBezTo>
                    <a:pt x="1040107" y="1923934"/>
                    <a:pt x="992751" y="1971290"/>
                    <a:pt x="934335" y="1971290"/>
                  </a:cubicBezTo>
                  <a:lnTo>
                    <a:pt x="105772" y="1971290"/>
                  </a:lnTo>
                  <a:cubicBezTo>
                    <a:pt x="77720" y="1971290"/>
                    <a:pt x="50816" y="1960146"/>
                    <a:pt x="30980" y="1940310"/>
                  </a:cubicBezTo>
                  <a:cubicBezTo>
                    <a:pt x="11144" y="1920474"/>
                    <a:pt x="0" y="1893570"/>
                    <a:pt x="0" y="1865518"/>
                  </a:cubicBezTo>
                  <a:lnTo>
                    <a:pt x="0" y="105772"/>
                  </a:lnTo>
                  <a:cubicBezTo>
                    <a:pt x="0" y="77720"/>
                    <a:pt x="11144" y="50816"/>
                    <a:pt x="30980" y="30980"/>
                  </a:cubicBezTo>
                  <a:cubicBezTo>
                    <a:pt x="50816" y="11144"/>
                    <a:pt x="77720" y="0"/>
                    <a:pt x="105772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40107" cy="1971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4029" y="3955284"/>
            <a:ext cx="2710783" cy="5132758"/>
          </a:xfrm>
          <a:custGeom>
            <a:avLst/>
            <a:gdLst/>
            <a:ahLst/>
            <a:cxnLst/>
            <a:rect r="r" b="b" t="t" l="l"/>
            <a:pathLst>
              <a:path h="5132758" w="2710783">
                <a:moveTo>
                  <a:pt x="0" y="0"/>
                </a:moveTo>
                <a:lnTo>
                  <a:pt x="2710783" y="0"/>
                </a:lnTo>
                <a:lnTo>
                  <a:pt x="2710783" y="5132758"/>
                </a:lnTo>
                <a:lnTo>
                  <a:pt x="0" y="513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106958" t="0" r="-8267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86495" y="4192047"/>
            <a:ext cx="10017306" cy="542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7127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 leyes de la física han actuado siempre con la misma intensidad y velocidad, demostrando que "el presente es la clave del pasado"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083816">
            <a:off x="13411833" y="-763763"/>
            <a:ext cx="3783936" cy="4802458"/>
          </a:xfrm>
          <a:custGeom>
            <a:avLst/>
            <a:gdLst/>
            <a:ahLst/>
            <a:cxnLst/>
            <a:rect r="r" b="b" t="t" l="l"/>
            <a:pathLst>
              <a:path h="4802458" w="3783936">
                <a:moveTo>
                  <a:pt x="0" y="0"/>
                </a:moveTo>
                <a:lnTo>
                  <a:pt x="3783936" y="0"/>
                </a:lnTo>
                <a:lnTo>
                  <a:pt x="3783936" y="4802458"/>
                </a:lnTo>
                <a:lnTo>
                  <a:pt x="0" y="4802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50462" y="4464263"/>
            <a:ext cx="1028700" cy="4114800"/>
          </a:xfrm>
          <a:custGeom>
            <a:avLst/>
            <a:gdLst/>
            <a:ahLst/>
            <a:cxnLst/>
            <a:rect r="r" b="b" t="t" l="l"/>
            <a:pathLst>
              <a:path h="4114800" w="10287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4029" y="2589869"/>
            <a:ext cx="10815599" cy="95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7543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Charles Lyell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4029" y="1446608"/>
            <a:ext cx="10815599" cy="12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4"/>
              </a:lnSpc>
            </a:pPr>
            <a:r>
              <a:rPr lang="en-US" sz="9743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Uniformismo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2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9000" y="465577"/>
            <a:ext cx="6010352" cy="9613449"/>
            <a:chOff x="0" y="0"/>
            <a:chExt cx="1582973" cy="25319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2973" cy="2531937"/>
            </a:xfrm>
            <a:custGeom>
              <a:avLst/>
              <a:gdLst/>
              <a:ahLst/>
              <a:cxnLst/>
              <a:rect r="r" b="b" t="t" l="l"/>
              <a:pathLst>
                <a:path h="2531937" w="1582973">
                  <a:moveTo>
                    <a:pt x="128810" y="0"/>
                  </a:moveTo>
                  <a:lnTo>
                    <a:pt x="1454164" y="0"/>
                  </a:lnTo>
                  <a:cubicBezTo>
                    <a:pt x="1488326" y="0"/>
                    <a:pt x="1521089" y="13571"/>
                    <a:pt x="1545246" y="37728"/>
                  </a:cubicBezTo>
                  <a:cubicBezTo>
                    <a:pt x="1569402" y="61884"/>
                    <a:pt x="1582973" y="94647"/>
                    <a:pt x="1582973" y="128810"/>
                  </a:cubicBezTo>
                  <a:lnTo>
                    <a:pt x="1582973" y="2403127"/>
                  </a:lnTo>
                  <a:cubicBezTo>
                    <a:pt x="1582973" y="2474267"/>
                    <a:pt x="1525303" y="2531937"/>
                    <a:pt x="1454164" y="2531937"/>
                  </a:cubicBezTo>
                  <a:lnTo>
                    <a:pt x="128810" y="2531937"/>
                  </a:lnTo>
                  <a:cubicBezTo>
                    <a:pt x="57670" y="2531937"/>
                    <a:pt x="0" y="2474267"/>
                    <a:pt x="0" y="2403127"/>
                  </a:cubicBezTo>
                  <a:lnTo>
                    <a:pt x="0" y="128810"/>
                  </a:lnTo>
                  <a:cubicBezTo>
                    <a:pt x="0" y="57670"/>
                    <a:pt x="57670" y="0"/>
                    <a:pt x="128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582973" cy="2560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14730" y="352384"/>
            <a:ext cx="11322283" cy="9394702"/>
          </a:xfrm>
          <a:custGeom>
            <a:avLst/>
            <a:gdLst/>
            <a:ahLst/>
            <a:cxnLst/>
            <a:rect r="r" b="b" t="t" l="l"/>
            <a:pathLst>
              <a:path h="9394702" w="11322283">
                <a:moveTo>
                  <a:pt x="0" y="0"/>
                </a:moveTo>
                <a:lnTo>
                  <a:pt x="11322283" y="0"/>
                </a:lnTo>
                <a:lnTo>
                  <a:pt x="11322283" y="9394702"/>
                </a:lnTo>
                <a:lnTo>
                  <a:pt x="0" y="9394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72" t="0" r="0" b="-8337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-1163825" y="769172"/>
            <a:ext cx="14140520" cy="101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sz="6996" b="true">
                <a:solidFill>
                  <a:srgbClr val="F8F7F5"/>
                </a:solidFill>
                <a:latin typeface="Poppins Bold"/>
                <a:ea typeface="Poppins Bold"/>
                <a:cs typeface="Poppins Bold"/>
                <a:sym typeface="Poppins Bold"/>
              </a:rPr>
              <a:t>La datación relativa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3911" y="1721607"/>
            <a:ext cx="673008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Nicolás </a:t>
            </a:r>
            <a:r>
              <a:rPr lang="en-US" sz="2899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Steno XVII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3798" y="2913441"/>
            <a:ext cx="7338841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la horizontalidad original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la continuidad lateral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el principio de superposición de estratos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+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el principio de sucesión faunística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3127" y="1436899"/>
            <a:ext cx="6179103" cy="4119402"/>
          </a:xfrm>
          <a:custGeom>
            <a:avLst/>
            <a:gdLst/>
            <a:ahLst/>
            <a:cxnLst/>
            <a:rect r="r" b="b" t="t" l="l"/>
            <a:pathLst>
              <a:path h="4119402" w="6179103">
                <a:moveTo>
                  <a:pt x="0" y="0"/>
                </a:moveTo>
                <a:lnTo>
                  <a:pt x="6179104" y="0"/>
                </a:lnTo>
                <a:lnTo>
                  <a:pt x="6179104" y="4119402"/>
                </a:lnTo>
                <a:lnTo>
                  <a:pt x="0" y="411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26277" y="3544763"/>
            <a:ext cx="8971670" cy="5713537"/>
          </a:xfrm>
          <a:custGeom>
            <a:avLst/>
            <a:gdLst/>
            <a:ahLst/>
            <a:cxnLst/>
            <a:rect r="r" b="b" t="t" l="l"/>
            <a:pathLst>
              <a:path h="5713537" w="8971670">
                <a:moveTo>
                  <a:pt x="0" y="0"/>
                </a:moveTo>
                <a:lnTo>
                  <a:pt x="8971670" y="0"/>
                </a:lnTo>
                <a:lnTo>
                  <a:pt x="8971670" y="5713537"/>
                </a:lnTo>
                <a:lnTo>
                  <a:pt x="0" y="5713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43694"/>
            <a:ext cx="18478259" cy="11346794"/>
            <a:chOff x="0" y="0"/>
            <a:chExt cx="7096772" cy="4357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96771" cy="4357857"/>
            </a:xfrm>
            <a:custGeom>
              <a:avLst/>
              <a:gdLst/>
              <a:ahLst/>
              <a:cxnLst/>
              <a:rect r="r" b="b" t="t" l="l"/>
              <a:pathLst>
                <a:path h="4357857" w="7096771">
                  <a:moveTo>
                    <a:pt x="15502" y="0"/>
                  </a:moveTo>
                  <a:lnTo>
                    <a:pt x="7081269" y="0"/>
                  </a:lnTo>
                  <a:cubicBezTo>
                    <a:pt x="7089831" y="0"/>
                    <a:pt x="7096771" y="6941"/>
                    <a:pt x="7096771" y="15502"/>
                  </a:cubicBezTo>
                  <a:lnTo>
                    <a:pt x="7096771" y="4342355"/>
                  </a:lnTo>
                  <a:cubicBezTo>
                    <a:pt x="7096771" y="4350916"/>
                    <a:pt x="7089831" y="4357857"/>
                    <a:pt x="7081269" y="4357857"/>
                  </a:cubicBezTo>
                  <a:lnTo>
                    <a:pt x="15502" y="4357857"/>
                  </a:lnTo>
                  <a:cubicBezTo>
                    <a:pt x="6941" y="4357857"/>
                    <a:pt x="0" y="4350916"/>
                    <a:pt x="0" y="4342355"/>
                  </a:cubicBezTo>
                  <a:lnTo>
                    <a:pt x="0" y="15502"/>
                  </a:lnTo>
                  <a:cubicBezTo>
                    <a:pt x="0" y="6941"/>
                    <a:pt x="6941" y="0"/>
                    <a:pt x="15502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096772" cy="4357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298649">
            <a:off x="16536179" y="-1105347"/>
            <a:ext cx="1515405" cy="1923306"/>
          </a:xfrm>
          <a:custGeom>
            <a:avLst/>
            <a:gdLst/>
            <a:ahLst/>
            <a:cxnLst/>
            <a:rect r="r" b="b" t="t" l="l"/>
            <a:pathLst>
              <a:path h="1923306" w="1515405">
                <a:moveTo>
                  <a:pt x="1515405" y="0"/>
                </a:moveTo>
                <a:lnTo>
                  <a:pt x="0" y="0"/>
                </a:lnTo>
                <a:lnTo>
                  <a:pt x="0" y="1923306"/>
                </a:lnTo>
                <a:lnTo>
                  <a:pt x="1515405" y="1923306"/>
                </a:lnTo>
                <a:lnTo>
                  <a:pt x="15154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028700" y="3563643"/>
          <a:ext cx="5657850" cy="3771900"/>
        </p:xfrm>
        <a:graphic>
          <a:graphicData uri="http://schemas.openxmlformats.org/presentationml/2006/ole">
            <p:oleObj imgW="6781800" imgH="4902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391766" y="2080424"/>
            <a:ext cx="10815599" cy="12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53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Desintegración atómica de isótopos inestables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6481" y="723236"/>
            <a:ext cx="14340367" cy="12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4"/>
              </a:lnSpc>
            </a:pPr>
            <a:r>
              <a:rPr lang="en-US" sz="974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La Datación Absoluta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19725" y="1823266"/>
            <a:ext cx="6800457" cy="9613449"/>
            <a:chOff x="0" y="0"/>
            <a:chExt cx="1791067" cy="25319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91067" cy="2531937"/>
            </a:xfrm>
            <a:custGeom>
              <a:avLst/>
              <a:gdLst/>
              <a:ahLst/>
              <a:cxnLst/>
              <a:rect r="r" b="b" t="t" l="l"/>
              <a:pathLst>
                <a:path h="2531937" w="1791067">
                  <a:moveTo>
                    <a:pt x="113844" y="0"/>
                  </a:moveTo>
                  <a:lnTo>
                    <a:pt x="1677223" y="0"/>
                  </a:lnTo>
                  <a:cubicBezTo>
                    <a:pt x="1707416" y="0"/>
                    <a:pt x="1736373" y="11994"/>
                    <a:pt x="1757723" y="33344"/>
                  </a:cubicBezTo>
                  <a:cubicBezTo>
                    <a:pt x="1779072" y="54694"/>
                    <a:pt x="1791067" y="83651"/>
                    <a:pt x="1791067" y="113844"/>
                  </a:cubicBezTo>
                  <a:lnTo>
                    <a:pt x="1791067" y="2418093"/>
                  </a:lnTo>
                  <a:cubicBezTo>
                    <a:pt x="1791067" y="2480967"/>
                    <a:pt x="1740097" y="2531937"/>
                    <a:pt x="1677223" y="2531937"/>
                  </a:cubicBezTo>
                  <a:lnTo>
                    <a:pt x="113844" y="2531937"/>
                  </a:lnTo>
                  <a:cubicBezTo>
                    <a:pt x="83651" y="2531937"/>
                    <a:pt x="54694" y="2519943"/>
                    <a:pt x="33344" y="2498593"/>
                  </a:cubicBezTo>
                  <a:cubicBezTo>
                    <a:pt x="11994" y="2477243"/>
                    <a:pt x="0" y="2448286"/>
                    <a:pt x="0" y="2418093"/>
                  </a:cubicBezTo>
                  <a:lnTo>
                    <a:pt x="0" y="113844"/>
                  </a:lnTo>
                  <a:cubicBezTo>
                    <a:pt x="0" y="50970"/>
                    <a:pt x="50970" y="0"/>
                    <a:pt x="1138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791067" cy="2560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119725" y="1470635"/>
            <a:ext cx="6800457" cy="9304436"/>
          </a:xfrm>
          <a:custGeom>
            <a:avLst/>
            <a:gdLst/>
            <a:ahLst/>
            <a:cxnLst/>
            <a:rect r="r" b="b" t="t" l="l"/>
            <a:pathLst>
              <a:path h="9304436" w="6800457">
                <a:moveTo>
                  <a:pt x="0" y="0"/>
                </a:moveTo>
                <a:lnTo>
                  <a:pt x="6800456" y="0"/>
                </a:lnTo>
                <a:lnTo>
                  <a:pt x="6800456" y="9304436"/>
                </a:lnTo>
                <a:lnTo>
                  <a:pt x="0" y="9304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962" t="0" r="-21936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8475" y="-447761"/>
            <a:ext cx="10622003" cy="5857982"/>
          </a:xfrm>
          <a:custGeom>
            <a:avLst/>
            <a:gdLst/>
            <a:ahLst/>
            <a:cxnLst/>
            <a:rect r="r" b="b" t="t" l="l"/>
            <a:pathLst>
              <a:path h="5857982" w="10622003">
                <a:moveTo>
                  <a:pt x="0" y="0"/>
                </a:moveTo>
                <a:lnTo>
                  <a:pt x="10622003" y="0"/>
                </a:lnTo>
                <a:lnTo>
                  <a:pt x="10622003" y="5857982"/>
                </a:lnTo>
                <a:lnTo>
                  <a:pt x="0" y="5857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53616" y="1066800"/>
            <a:ext cx="9890075" cy="286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sz="6996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Métodos</a:t>
            </a:r>
            <a:r>
              <a:rPr lang="en-US" b="true" sz="6996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 de Datación Radiométrica</a:t>
            </a:r>
          </a:p>
          <a:p>
            <a:pPr algn="ctr">
              <a:lnSpc>
                <a:spcPts val="734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823069" y="3102854"/>
            <a:ext cx="98900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¿Cómo elegir el "re</a:t>
            </a: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loj" adecuado?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3767" y="4290179"/>
            <a:ext cx="14684903" cy="501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Uranio-Plomo (U-Pb): El método ideal para las rocas más antiguas de la Tierra y minerales ultra resistentes como los circonios (Escala: miles de millones de años).</a:t>
            </a:r>
          </a:p>
          <a:p>
            <a:pPr algn="ctr">
              <a:lnSpc>
                <a:spcPts val="3359"/>
              </a:lnSpc>
            </a:pP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Potasio-Argón / Argón-Argón (K-Ar / Ar-Ar): Cr</a:t>
            </a: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ucial para datar rocas ígneas y metamórficas en escalas intermedias y avanzadas. Mide desde eventos volcánicos hasta la evolución de la corteza.</a:t>
            </a:r>
          </a:p>
          <a:p>
            <a:pPr algn="ctr">
              <a:lnSpc>
                <a:spcPts val="3359"/>
              </a:lnSpc>
            </a:pP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Carbono-14 (¹⁴C) [Añadido para el cierre]: El reloj para la materia orgánica reciente. Tiene una vida media corta de solo 5,730 años.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4F2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4137" y="1047750"/>
            <a:ext cx="9019726" cy="133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0"/>
              </a:lnSpc>
            </a:pPr>
            <a:r>
              <a:rPr lang="en-US" sz="4781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Aplicación de Técnicas: El Sismo y Tsunami de 1946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3964" y="3383876"/>
            <a:ext cx="348034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8F7F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Datació</a:t>
            </a:r>
            <a:r>
              <a:rPr lang="en-US" b="true" sz="3200">
                <a:solidFill>
                  <a:srgbClr val="F8F7F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 Relativa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68217" y="4398309"/>
            <a:ext cx="6975783" cy="10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6217" indent="-338108" lvl="1">
              <a:lnSpc>
                <a:spcPts val="4384"/>
              </a:lnSpc>
              <a:buFont typeface="Arial"/>
              <a:buChar char="•"/>
            </a:pP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Principio de </a:t>
            </a: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Superposición </a:t>
            </a:r>
          </a:p>
          <a:p>
            <a:pPr algn="l" marL="676217" indent="-338108" lvl="1">
              <a:lnSpc>
                <a:spcPts val="4384"/>
              </a:lnSpc>
              <a:buFont typeface="Arial"/>
              <a:buChar char="•"/>
            </a:pP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Relaciones de Corte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57644" y="3383876"/>
            <a:ext cx="379243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8F7F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Datació</a:t>
            </a:r>
            <a:r>
              <a:rPr lang="en-US" b="true" sz="3200">
                <a:solidFill>
                  <a:srgbClr val="F8F7F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 Absoluta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398309"/>
            <a:ext cx="6975783" cy="53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676217" indent="-338108" lvl="1">
              <a:lnSpc>
                <a:spcPts val="4384"/>
              </a:lnSpc>
              <a:buFont typeface="Arial"/>
              <a:buChar char="•"/>
            </a:pP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Datación por Ca</a:t>
            </a: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rbono-14 (¹⁴C).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12190" y="4911423"/>
            <a:ext cx="9786112" cy="227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1"/>
              </a:lnSpc>
            </a:pPr>
            <a:r>
              <a:rPr lang="en-US" sz="15420" b="true">
                <a:solidFill>
                  <a:srgbClr val="EE5C66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-5174980" y="2010997"/>
            <a:ext cx="13473131" cy="6265006"/>
          </a:xfrm>
          <a:custGeom>
            <a:avLst/>
            <a:gdLst/>
            <a:ahLst/>
            <a:cxnLst/>
            <a:rect r="r" b="b" t="t" l="l"/>
            <a:pathLst>
              <a:path h="6265006" w="13473131">
                <a:moveTo>
                  <a:pt x="0" y="0"/>
                </a:moveTo>
                <a:lnTo>
                  <a:pt x="13473130" y="0"/>
                </a:lnTo>
                <a:lnTo>
                  <a:pt x="13473130" y="6265006"/>
                </a:lnTo>
                <a:lnTo>
                  <a:pt x="0" y="6265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74090" y="2654654"/>
            <a:ext cx="10447110" cy="277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12"/>
              </a:lnSpc>
              <a:spcBef>
                <a:spcPct val="0"/>
              </a:spcBef>
            </a:pPr>
            <a:r>
              <a:rPr lang="en-US" sz="15366">
                <a:solidFill>
                  <a:srgbClr val="EE5C66"/>
                </a:solidFill>
                <a:latin typeface="Poppins"/>
                <a:ea typeface="Poppins"/>
                <a:cs typeface="Poppins"/>
                <a:sym typeface="Poppins"/>
              </a:rPr>
              <a:t>¡Muchas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32966" y="5348674"/>
            <a:ext cx="439779" cy="406616"/>
            <a:chOff x="0" y="0"/>
            <a:chExt cx="767076" cy="7092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076" cy="709233"/>
            </a:xfrm>
            <a:custGeom>
              <a:avLst/>
              <a:gdLst/>
              <a:ahLst/>
              <a:cxnLst/>
              <a:rect r="r" b="b" t="t" l="l"/>
              <a:pathLst>
                <a:path h="709233" w="767076">
                  <a:moveTo>
                    <a:pt x="383538" y="0"/>
                  </a:moveTo>
                  <a:cubicBezTo>
                    <a:pt x="171716" y="0"/>
                    <a:pt x="0" y="158767"/>
                    <a:pt x="0" y="354617"/>
                  </a:cubicBezTo>
                  <a:cubicBezTo>
                    <a:pt x="0" y="550466"/>
                    <a:pt x="171716" y="709233"/>
                    <a:pt x="383538" y="709233"/>
                  </a:cubicBezTo>
                  <a:cubicBezTo>
                    <a:pt x="595360" y="709233"/>
                    <a:pt x="767076" y="550466"/>
                    <a:pt x="767076" y="354617"/>
                  </a:cubicBezTo>
                  <a:cubicBezTo>
                    <a:pt x="767076" y="158767"/>
                    <a:pt x="595360" y="0"/>
                    <a:pt x="383538" y="0"/>
                  </a:cubicBezTo>
                  <a:close/>
                </a:path>
              </a:pathLst>
            </a:custGeom>
            <a:solidFill>
              <a:srgbClr val="F8F7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1913" y="37916"/>
              <a:ext cx="623249" cy="604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684909"/>
            <a:ext cx="16230600" cy="112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3"/>
              </a:lnSpc>
            </a:pPr>
            <a:r>
              <a:rPr lang="en-US" sz="8873" b="true">
                <a:solidFill>
                  <a:srgbClr val="F8F7F5"/>
                </a:solidFill>
                <a:latin typeface="Poppins Bold"/>
                <a:ea typeface="Poppins Bold"/>
                <a:cs typeface="Poppins Bold"/>
                <a:sym typeface="Poppins Bold"/>
              </a:rPr>
              <a:t>Nuestros horarios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66496" y="5244526"/>
            <a:ext cx="7830099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Lunes de 11:00 a 13:00hs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66496" y="6289403"/>
            <a:ext cx="7830099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Miércoles de 11:00 a 13:00hs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32966" y="6361367"/>
            <a:ext cx="439779" cy="406616"/>
            <a:chOff x="0" y="0"/>
            <a:chExt cx="767076" cy="709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076" cy="709233"/>
            </a:xfrm>
            <a:custGeom>
              <a:avLst/>
              <a:gdLst/>
              <a:ahLst/>
              <a:cxnLst/>
              <a:rect r="r" b="b" t="t" l="l"/>
              <a:pathLst>
                <a:path h="709233" w="767076">
                  <a:moveTo>
                    <a:pt x="383538" y="0"/>
                  </a:moveTo>
                  <a:cubicBezTo>
                    <a:pt x="171716" y="0"/>
                    <a:pt x="0" y="158767"/>
                    <a:pt x="0" y="354617"/>
                  </a:cubicBezTo>
                  <a:cubicBezTo>
                    <a:pt x="0" y="550466"/>
                    <a:pt x="171716" y="709233"/>
                    <a:pt x="383538" y="709233"/>
                  </a:cubicBezTo>
                  <a:cubicBezTo>
                    <a:pt x="595360" y="709233"/>
                    <a:pt x="767076" y="550466"/>
                    <a:pt x="767076" y="354617"/>
                  </a:cubicBezTo>
                  <a:cubicBezTo>
                    <a:pt x="767076" y="158767"/>
                    <a:pt x="595360" y="0"/>
                    <a:pt x="383538" y="0"/>
                  </a:cubicBezTo>
                  <a:close/>
                </a:path>
              </a:pathLst>
            </a:custGeom>
            <a:solidFill>
              <a:srgbClr val="F8F7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1913" y="37916"/>
              <a:ext cx="623249" cy="604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5339733">
            <a:off x="13784637" y="7136998"/>
            <a:ext cx="3342818" cy="4242604"/>
          </a:xfrm>
          <a:custGeom>
            <a:avLst/>
            <a:gdLst/>
            <a:ahLst/>
            <a:cxnLst/>
            <a:rect r="r" b="b" t="t" l="l"/>
            <a:pathLst>
              <a:path h="4242604" w="3342818">
                <a:moveTo>
                  <a:pt x="0" y="0"/>
                </a:moveTo>
                <a:lnTo>
                  <a:pt x="3342818" y="0"/>
                </a:lnTo>
                <a:lnTo>
                  <a:pt x="3342818" y="4242604"/>
                </a:lnTo>
                <a:lnTo>
                  <a:pt x="0" y="424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812220">
            <a:off x="1332191" y="-1092602"/>
            <a:ext cx="3342818" cy="4242604"/>
          </a:xfrm>
          <a:custGeom>
            <a:avLst/>
            <a:gdLst/>
            <a:ahLst/>
            <a:cxnLst/>
            <a:rect r="r" b="b" t="t" l="l"/>
            <a:pathLst>
              <a:path h="4242604" w="3342818">
                <a:moveTo>
                  <a:pt x="0" y="0"/>
                </a:moveTo>
                <a:lnTo>
                  <a:pt x="3342819" y="0"/>
                </a:lnTo>
                <a:lnTo>
                  <a:pt x="3342819" y="4242604"/>
                </a:lnTo>
                <a:lnTo>
                  <a:pt x="0" y="424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20124" y="5388620"/>
            <a:ext cx="265463" cy="326724"/>
          </a:xfrm>
          <a:custGeom>
            <a:avLst/>
            <a:gdLst/>
            <a:ahLst/>
            <a:cxnLst/>
            <a:rect r="r" b="b" t="t" l="l"/>
            <a:pathLst>
              <a:path h="326724" w="265463">
                <a:moveTo>
                  <a:pt x="0" y="0"/>
                </a:moveTo>
                <a:lnTo>
                  <a:pt x="265463" y="0"/>
                </a:lnTo>
                <a:lnTo>
                  <a:pt x="265463" y="326724"/>
                </a:lnTo>
                <a:lnTo>
                  <a:pt x="0" y="326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20124" y="6401314"/>
            <a:ext cx="265463" cy="326724"/>
          </a:xfrm>
          <a:custGeom>
            <a:avLst/>
            <a:gdLst/>
            <a:ahLst/>
            <a:cxnLst/>
            <a:rect r="r" b="b" t="t" l="l"/>
            <a:pathLst>
              <a:path h="326724" w="265463">
                <a:moveTo>
                  <a:pt x="0" y="0"/>
                </a:moveTo>
                <a:lnTo>
                  <a:pt x="265463" y="0"/>
                </a:lnTo>
                <a:lnTo>
                  <a:pt x="265463" y="326723"/>
                </a:lnTo>
                <a:lnTo>
                  <a:pt x="0" y="3267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5C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8334" y="1525564"/>
            <a:ext cx="16091332" cy="125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30"/>
              </a:lnSpc>
            </a:pPr>
            <a:r>
              <a:rPr lang="en-US" sz="8600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Página de recursos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3517" y="3071478"/>
            <a:ext cx="16091332" cy="28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980" b="tru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Utilice estos elementos en su presentación de Canva. ¡Feliz diseño! No olvide eliminar esta página antes de presentarla.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3517" y="3633029"/>
            <a:ext cx="16091332" cy="2661468"/>
            <a:chOff x="0" y="0"/>
            <a:chExt cx="4238046" cy="7009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8046" cy="700963"/>
            </a:xfrm>
            <a:custGeom>
              <a:avLst/>
              <a:gdLst/>
              <a:ahLst/>
              <a:cxnLst/>
              <a:rect r="r" b="b" t="t" l="l"/>
              <a:pathLst>
                <a:path h="700963" w="4238046">
                  <a:moveTo>
                    <a:pt x="0" y="0"/>
                  </a:moveTo>
                  <a:lnTo>
                    <a:pt x="4238046" y="0"/>
                  </a:lnTo>
                  <a:lnTo>
                    <a:pt x="4238046" y="700963"/>
                  </a:lnTo>
                  <a:lnTo>
                    <a:pt x="0" y="700963"/>
                  </a:lnTo>
                  <a:close/>
                </a:path>
              </a:pathLst>
            </a:custGeom>
            <a:solidFill>
              <a:srgbClr val="F8F7F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238046" cy="758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63517" y="6949616"/>
          <a:ext cx="16160966" cy="1981200"/>
        </p:xfrm>
        <a:graphic>
          <a:graphicData uri="http://schemas.openxmlformats.org/drawingml/2006/table">
            <a:tbl>
              <a:tblPr/>
              <a:tblGrid>
                <a:gridCol w="4520053"/>
                <a:gridCol w="3416022"/>
                <a:gridCol w="3715667"/>
                <a:gridCol w="4509225"/>
              </a:tblGrid>
              <a:tr h="8449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 para desenfoque</a:t>
                      </a: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 para burbujas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 para confeti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 de silencio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</a:tr>
              <a:tr h="11362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 para un redoble de tambores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 para desvelar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 para caída de micrófono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1"/>
                        </a:lnSpc>
                        <a:defRPr/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Pulse cualquier numero del 0 al 9</a:t>
                      </a:r>
                      <a:endParaRPr lang="en-US" sz="1100"/>
                    </a:p>
                    <a:p>
                      <a:pPr algn="ctr">
                        <a:lnSpc>
                          <a:spcPts val="2301"/>
                        </a:lnSpc>
                      </a:pP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</a:t>
                      </a:r>
                      <a:r>
                        <a:rPr lang="en-US" sz="1644">
                          <a:solidFill>
                            <a:srgbClr val="4F265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un temporizador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5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813223" y="6484130"/>
            <a:ext cx="14591921" cy="28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980" strike="noStrike" u="none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¡Presione estas teclas mientras está en modo Presente!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97127" y="4195790"/>
            <a:ext cx="3994236" cy="1857320"/>
          </a:xfrm>
          <a:custGeom>
            <a:avLst/>
            <a:gdLst/>
            <a:ahLst/>
            <a:cxnLst/>
            <a:rect r="r" b="b" t="t" l="l"/>
            <a:pathLst>
              <a:path h="1857320" w="3994236">
                <a:moveTo>
                  <a:pt x="0" y="0"/>
                </a:moveTo>
                <a:lnTo>
                  <a:pt x="3994236" y="0"/>
                </a:lnTo>
                <a:lnTo>
                  <a:pt x="3994236" y="1857320"/>
                </a:lnTo>
                <a:lnTo>
                  <a:pt x="0" y="185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042003">
            <a:off x="8443468" y="3681740"/>
            <a:ext cx="1905861" cy="2418861"/>
          </a:xfrm>
          <a:custGeom>
            <a:avLst/>
            <a:gdLst/>
            <a:ahLst/>
            <a:cxnLst/>
            <a:rect r="r" b="b" t="t" l="l"/>
            <a:pathLst>
              <a:path h="2418861" w="1905861">
                <a:moveTo>
                  <a:pt x="0" y="0"/>
                </a:moveTo>
                <a:lnTo>
                  <a:pt x="1905861" y="0"/>
                </a:lnTo>
                <a:lnTo>
                  <a:pt x="1905861" y="2418861"/>
                </a:lnTo>
                <a:lnTo>
                  <a:pt x="0" y="2418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113977" y="3991084"/>
            <a:ext cx="1945359" cy="19453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5C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518880" y="4272202"/>
            <a:ext cx="1123787" cy="1383122"/>
          </a:xfrm>
          <a:custGeom>
            <a:avLst/>
            <a:gdLst/>
            <a:ahLst/>
            <a:cxnLst/>
            <a:rect r="r" b="b" t="t" l="l"/>
            <a:pathLst>
              <a:path h="1383122" w="1123787">
                <a:moveTo>
                  <a:pt x="0" y="0"/>
                </a:moveTo>
                <a:lnTo>
                  <a:pt x="1123787" y="0"/>
                </a:lnTo>
                <a:lnTo>
                  <a:pt x="1123787" y="1383122"/>
                </a:lnTo>
                <a:lnTo>
                  <a:pt x="0" y="13831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DAHT3JH_MiY</dc:identifier>
  <dcterms:modified xsi:type="dcterms:W3CDTF">2011-08-01T06:04:30Z</dcterms:modified>
  <cp:revision>1</cp:revision>
  <dc:title>Presentación de geografía ilustrativo violeta y rosa</dc:title>
</cp:coreProperties>
</file>