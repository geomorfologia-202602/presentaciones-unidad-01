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ns" panose="020F0502020204030204" pitchFamily="34" charset="0"/>
      <p:regular r:id="rId13"/>
    </p:embeddedFon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</p:embeddedFont>
    <p:embeddedFont>
      <p:font typeface="Open Sauce Semi-Bold" panose="020B0604020202020204" charset="0"/>
      <p:regular r:id="rId16"/>
    </p:embeddedFont>
    <p:embeddedFont>
      <p:font typeface="Poppins" panose="020B0502040204020203" pitchFamily="2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7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source=web&amp;rct=j&amp;url=https://www.cambridge.org/highereducation/books/geomorphology/5A93557492097E08FA34F93E943E67C4&amp;ved=2ahUKEwjH5c6Ai8uWAxV8lYkEHapmN70Qy_kOeggIAggBCAoQBA&amp;opi=89978449&amp;cd&amp;psig=AOvVaw0LXsVpPlIlfEd_a_7y8T36&amp;ust=1788273217967000" TargetMode="External"/><Relationship Id="rId2" Type="http://schemas.openxmlformats.org/officeDocument/2006/relationships/hyperlink" Target="https://www.google.com/url?sa=i&amp;source=web&amp;rct=j&amp;url=https://www.colorado.edu/earthscience/robert-anderson&amp;ved=2ahUKEwjH5c6Ai8uWAxV8lYkEHapmN70Qy_kOeggIAggBCAoQAw&amp;opi=89978449&amp;cd&amp;psig=AOvVaw0LXsVpPlIlfEd_a_7y8T36&amp;ust=1788273217967000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222" b="-12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07435" y="7411959"/>
            <a:ext cx="13473131" cy="6265006"/>
          </a:xfrm>
          <a:custGeom>
            <a:avLst/>
            <a:gdLst/>
            <a:ahLst/>
            <a:cxnLst/>
            <a:rect l="l" t="t" r="r" b="b"/>
            <a:pathLst>
              <a:path w="13473131" h="6265006">
                <a:moveTo>
                  <a:pt x="0" y="0"/>
                </a:moveTo>
                <a:lnTo>
                  <a:pt x="13473130" y="0"/>
                </a:lnTo>
                <a:lnTo>
                  <a:pt x="13473130" y="6265006"/>
                </a:lnTo>
                <a:lnTo>
                  <a:pt x="0" y="6265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73740" y="5863258"/>
            <a:ext cx="14140520" cy="853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6"/>
              </a:lnSpc>
            </a:pPr>
            <a:r>
              <a:rPr lang="en-US" sz="579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Relativas y Absolutas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73740" y="1430330"/>
            <a:ext cx="14140520" cy="440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84"/>
              </a:lnSpc>
            </a:pPr>
            <a:r>
              <a:rPr lang="en-US" sz="15699" b="1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Técnicas de Datación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439907" y="261113"/>
            <a:ext cx="9694683" cy="405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7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Geomorfología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35678" y="328604"/>
            <a:ext cx="255716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ROSAMALIA ABREU 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9779" y="2150943"/>
            <a:ext cx="5142848" cy="102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sz="3297" b="1" spc="3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Robert y Suzanne Anderson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31787" y="5086350"/>
            <a:ext cx="920193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Pero para entender cuánto tiempo necesitan estos procesos para cambiar un paisaje, primero tenemos que hablar del tiempo geológico.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497241" y="3174306"/>
            <a:ext cx="7471021" cy="1380102"/>
            <a:chOff x="0" y="0"/>
            <a:chExt cx="9961362" cy="1840136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675"/>
              <a:ext cx="9961362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Las fuerzas internas de la Tierra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32534"/>
              <a:ext cx="9661285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Radiación Solar y El Clima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80628" y="1073347"/>
            <a:ext cx="10317063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El Principio de Conservación o Continuidad.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4616" y="3289264"/>
            <a:ext cx="4213172" cy="568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dos destacados geomorfólogos y profesores de la </a:t>
            </a:r>
            <a:r>
              <a:rPr lang="en-US" sz="2497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2" tooltip="https://www.google.com/url?sa=i&amp;source=web&amp;rct=j&amp;url=https://www.colorado.edu/earthscience/robert-anderson&amp;ved=2ahUKEwjH5c6Ai8uWAxV8lYkEHapmN70Qy_kOeggIAggBCAoQAw&amp;opi=89978449&amp;cd&amp;psig=AOvVaw0LXsVpPlIlfEd_a_7y8T36&amp;ust=1788273217967000"/>
              </a:rPr>
              <a:t>University of Colorado Boulder</a:t>
            </a: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Son ampliamente reconocidos en la comunidad científica por ser los autores del aclamado libro de texto académico titulado Geomorphology: The Mechanics and Chemistry of Landscapes, publicado por </a:t>
            </a:r>
            <a:r>
              <a:rPr lang="en-US" sz="2497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google.com/url?sa=i&amp;source=web&amp;rct=j&amp;url=https://www.cambridge.org/highereducation/books/geomorphology/5A93557492097E08FA34F93E943E67C4&amp;ved=2ahUKEwjH5c6Ai8uWAxV8lYkEHapmN70Qy_kOeggIAggBCAoQBA&amp;opi=89978449&amp;cd&amp;psig=AOvVaw0LXsVpPlIlfEd_a_7y8T36&amp;ust=1788273217967000"/>
              </a:rPr>
              <a:t>Cambridge University Press</a:t>
            </a:r>
            <a:r>
              <a:rPr lang="en-US" sz="2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4527" y="2375115"/>
            <a:ext cx="4628217" cy="6147319"/>
            <a:chOff x="0" y="0"/>
            <a:chExt cx="1777516" cy="23609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7516" cy="2360943"/>
            </a:xfrm>
            <a:custGeom>
              <a:avLst/>
              <a:gdLst/>
              <a:ahLst/>
              <a:cxnLst/>
              <a:rect l="l" t="t" r="r" b="b"/>
              <a:pathLst>
                <a:path w="1777516" h="2360943">
                  <a:moveTo>
                    <a:pt x="61892" y="0"/>
                  </a:moveTo>
                  <a:lnTo>
                    <a:pt x="1715624" y="0"/>
                  </a:lnTo>
                  <a:cubicBezTo>
                    <a:pt x="1749806" y="0"/>
                    <a:pt x="1777516" y="27710"/>
                    <a:pt x="1777516" y="61892"/>
                  </a:cubicBezTo>
                  <a:lnTo>
                    <a:pt x="1777516" y="2299051"/>
                  </a:lnTo>
                  <a:cubicBezTo>
                    <a:pt x="1777516" y="2333233"/>
                    <a:pt x="1749806" y="2360943"/>
                    <a:pt x="1715624" y="2360943"/>
                  </a:cubicBezTo>
                  <a:lnTo>
                    <a:pt x="61892" y="2360943"/>
                  </a:lnTo>
                  <a:cubicBezTo>
                    <a:pt x="45477" y="2360943"/>
                    <a:pt x="29735" y="2354423"/>
                    <a:pt x="18128" y="2342816"/>
                  </a:cubicBezTo>
                  <a:cubicBezTo>
                    <a:pt x="6521" y="2331208"/>
                    <a:pt x="0" y="2315466"/>
                    <a:pt x="0" y="2299051"/>
                  </a:cubicBezTo>
                  <a:lnTo>
                    <a:pt x="0" y="61892"/>
                  </a:lnTo>
                  <a:cubicBezTo>
                    <a:pt x="0" y="27710"/>
                    <a:pt x="27710" y="0"/>
                    <a:pt x="6189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777516" cy="2360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0611" y="2375115"/>
            <a:ext cx="4586778" cy="6147319"/>
            <a:chOff x="0" y="0"/>
            <a:chExt cx="1761601" cy="2360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61601" cy="2360943"/>
            </a:xfrm>
            <a:custGeom>
              <a:avLst/>
              <a:gdLst/>
              <a:ahLst/>
              <a:cxnLst/>
              <a:rect l="l" t="t" r="r" b="b"/>
              <a:pathLst>
                <a:path w="1761601" h="2360943">
                  <a:moveTo>
                    <a:pt x="62451" y="0"/>
                  </a:moveTo>
                  <a:lnTo>
                    <a:pt x="1699149" y="0"/>
                  </a:lnTo>
                  <a:cubicBezTo>
                    <a:pt x="1715713" y="0"/>
                    <a:pt x="1731597" y="6580"/>
                    <a:pt x="1743309" y="18292"/>
                  </a:cubicBezTo>
                  <a:cubicBezTo>
                    <a:pt x="1755021" y="30004"/>
                    <a:pt x="1761601" y="45888"/>
                    <a:pt x="1761601" y="62451"/>
                  </a:cubicBezTo>
                  <a:lnTo>
                    <a:pt x="1761601" y="2298492"/>
                  </a:lnTo>
                  <a:cubicBezTo>
                    <a:pt x="1761601" y="2332983"/>
                    <a:pt x="1733640" y="2360943"/>
                    <a:pt x="1699149" y="2360943"/>
                  </a:cubicBezTo>
                  <a:lnTo>
                    <a:pt x="62451" y="2360943"/>
                  </a:lnTo>
                  <a:cubicBezTo>
                    <a:pt x="27960" y="2360943"/>
                    <a:pt x="0" y="2332983"/>
                    <a:pt x="0" y="2298492"/>
                  </a:cubicBezTo>
                  <a:lnTo>
                    <a:pt x="0" y="62451"/>
                  </a:lnTo>
                  <a:cubicBezTo>
                    <a:pt x="0" y="27960"/>
                    <a:pt x="27960" y="0"/>
                    <a:pt x="62451" y="0"/>
                  </a:cubicBezTo>
                  <a:close/>
                </a:path>
              </a:pathLst>
            </a:custGeom>
            <a:solidFill>
              <a:srgbClr val="EE5C66"/>
            </a:solidFill>
            <a:ln cap="rnd">
              <a:noFill/>
              <a:prstDash val="lgDash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761601" cy="2360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0814" y="2375115"/>
            <a:ext cx="4586778" cy="6147319"/>
            <a:chOff x="0" y="0"/>
            <a:chExt cx="1761601" cy="23609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1601" cy="2360943"/>
            </a:xfrm>
            <a:custGeom>
              <a:avLst/>
              <a:gdLst/>
              <a:ahLst/>
              <a:cxnLst/>
              <a:rect l="l" t="t" r="r" b="b"/>
              <a:pathLst>
                <a:path w="1761601" h="2360943">
                  <a:moveTo>
                    <a:pt x="62451" y="0"/>
                  </a:moveTo>
                  <a:lnTo>
                    <a:pt x="1699149" y="0"/>
                  </a:lnTo>
                  <a:cubicBezTo>
                    <a:pt x="1715713" y="0"/>
                    <a:pt x="1731597" y="6580"/>
                    <a:pt x="1743309" y="18292"/>
                  </a:cubicBezTo>
                  <a:cubicBezTo>
                    <a:pt x="1755021" y="30004"/>
                    <a:pt x="1761601" y="45888"/>
                    <a:pt x="1761601" y="62451"/>
                  </a:cubicBezTo>
                  <a:lnTo>
                    <a:pt x="1761601" y="2298492"/>
                  </a:lnTo>
                  <a:cubicBezTo>
                    <a:pt x="1761601" y="2332983"/>
                    <a:pt x="1733640" y="2360943"/>
                    <a:pt x="1699149" y="2360943"/>
                  </a:cubicBezTo>
                  <a:lnTo>
                    <a:pt x="62451" y="2360943"/>
                  </a:lnTo>
                  <a:cubicBezTo>
                    <a:pt x="27960" y="2360943"/>
                    <a:pt x="0" y="2332983"/>
                    <a:pt x="0" y="2298492"/>
                  </a:cubicBezTo>
                  <a:lnTo>
                    <a:pt x="0" y="62451"/>
                  </a:lnTo>
                  <a:cubicBezTo>
                    <a:pt x="0" y="27960"/>
                    <a:pt x="27960" y="0"/>
                    <a:pt x="62451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761601" cy="2360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84527" y="2375115"/>
            <a:ext cx="4632659" cy="6147319"/>
          </a:xfrm>
          <a:custGeom>
            <a:avLst/>
            <a:gdLst/>
            <a:ahLst/>
            <a:cxnLst/>
            <a:rect l="l" t="t" r="r" b="b"/>
            <a:pathLst>
              <a:path w="4632659" h="6147319">
                <a:moveTo>
                  <a:pt x="0" y="0"/>
                </a:moveTo>
                <a:lnTo>
                  <a:pt x="4632659" y="0"/>
                </a:lnTo>
                <a:lnTo>
                  <a:pt x="4632659" y="6147320"/>
                </a:lnTo>
                <a:lnTo>
                  <a:pt x="0" y="614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59997" r="-4297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69473" y="2379791"/>
            <a:ext cx="4567916" cy="6142644"/>
          </a:xfrm>
          <a:custGeom>
            <a:avLst/>
            <a:gdLst/>
            <a:ahLst/>
            <a:cxnLst/>
            <a:rect l="l" t="t" r="r" b="b"/>
            <a:pathLst>
              <a:path w="4567916" h="6142644">
                <a:moveTo>
                  <a:pt x="0" y="0"/>
                </a:moveTo>
                <a:lnTo>
                  <a:pt x="4567916" y="0"/>
                </a:lnTo>
                <a:lnTo>
                  <a:pt x="4567916" y="6142644"/>
                </a:lnTo>
                <a:lnTo>
                  <a:pt x="0" y="614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t="-6123" b="-612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70814" y="2379791"/>
            <a:ext cx="4583867" cy="6158967"/>
          </a:xfrm>
          <a:custGeom>
            <a:avLst/>
            <a:gdLst/>
            <a:ahLst/>
            <a:cxnLst/>
            <a:rect l="l" t="t" r="r" b="b"/>
            <a:pathLst>
              <a:path w="4583867" h="6158967">
                <a:moveTo>
                  <a:pt x="0" y="0"/>
                </a:moveTo>
                <a:lnTo>
                  <a:pt x="4583867" y="0"/>
                </a:lnTo>
                <a:lnTo>
                  <a:pt x="4583867" y="6158967"/>
                </a:lnTo>
                <a:lnTo>
                  <a:pt x="0" y="6158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-45689" r="-5673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84527" y="9263352"/>
            <a:ext cx="4628217" cy="3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Arzobispo James Ussher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4527" y="8753195"/>
            <a:ext cx="4628217" cy="3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XVII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29891" y="9263352"/>
            <a:ext cx="4628217" cy="3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Lord Kelvin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9891" y="8753195"/>
            <a:ext cx="4628217" cy="3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 XIX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75256" y="9263352"/>
            <a:ext cx="4628217" cy="3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399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física nuclear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75256" y="8753195"/>
            <a:ext cx="4628217" cy="3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3099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 XX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-1163825" y="769172"/>
            <a:ext cx="14140520" cy="101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996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El tiempo geológico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3212" y="3784100"/>
            <a:ext cx="2713382" cy="5132758"/>
            <a:chOff x="0" y="0"/>
            <a:chExt cx="1042103" cy="1971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2103" cy="1971290"/>
            </a:xfrm>
            <a:custGeom>
              <a:avLst/>
              <a:gdLst/>
              <a:ahLst/>
              <a:cxnLst/>
              <a:rect l="l" t="t" r="r" b="b"/>
              <a:pathLst>
                <a:path w="1042103" h="1971290">
                  <a:moveTo>
                    <a:pt x="105570" y="0"/>
                  </a:moveTo>
                  <a:lnTo>
                    <a:pt x="936533" y="0"/>
                  </a:lnTo>
                  <a:cubicBezTo>
                    <a:pt x="964532" y="0"/>
                    <a:pt x="991384" y="11122"/>
                    <a:pt x="1011182" y="30921"/>
                  </a:cubicBezTo>
                  <a:cubicBezTo>
                    <a:pt x="1030981" y="50719"/>
                    <a:pt x="1042103" y="77571"/>
                    <a:pt x="1042103" y="105570"/>
                  </a:cubicBezTo>
                  <a:lnTo>
                    <a:pt x="1042103" y="1865720"/>
                  </a:lnTo>
                  <a:cubicBezTo>
                    <a:pt x="1042103" y="1893719"/>
                    <a:pt x="1030981" y="1920571"/>
                    <a:pt x="1011182" y="1940370"/>
                  </a:cubicBezTo>
                  <a:cubicBezTo>
                    <a:pt x="991384" y="1960168"/>
                    <a:pt x="964532" y="1971290"/>
                    <a:pt x="936533" y="1971290"/>
                  </a:cubicBezTo>
                  <a:lnTo>
                    <a:pt x="105570" y="1971290"/>
                  </a:lnTo>
                  <a:cubicBezTo>
                    <a:pt x="77571" y="1971290"/>
                    <a:pt x="50719" y="1960168"/>
                    <a:pt x="30921" y="1940370"/>
                  </a:cubicBezTo>
                  <a:cubicBezTo>
                    <a:pt x="11122" y="1920571"/>
                    <a:pt x="0" y="1893719"/>
                    <a:pt x="0" y="1865720"/>
                  </a:cubicBezTo>
                  <a:lnTo>
                    <a:pt x="0" y="105570"/>
                  </a:lnTo>
                  <a:cubicBezTo>
                    <a:pt x="0" y="77571"/>
                    <a:pt x="11122" y="50719"/>
                    <a:pt x="30921" y="30921"/>
                  </a:cubicBezTo>
                  <a:cubicBezTo>
                    <a:pt x="50719" y="11122"/>
                    <a:pt x="77571" y="0"/>
                    <a:pt x="105570" y="0"/>
                  </a:cubicBezTo>
                  <a:close/>
                </a:path>
              </a:pathLst>
            </a:custGeom>
            <a:solidFill>
              <a:srgbClr val="EE5C66"/>
            </a:solidFill>
            <a:ln cap="rnd">
              <a:noFill/>
              <a:prstDash val="lgDash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042103" cy="197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54370" y="3788003"/>
            <a:ext cx="2702224" cy="5128854"/>
          </a:xfrm>
          <a:custGeom>
            <a:avLst/>
            <a:gdLst/>
            <a:ahLst/>
            <a:cxnLst/>
            <a:rect l="l" t="t" r="r" b="b"/>
            <a:pathLst>
              <a:path w="2702224" h="5128854">
                <a:moveTo>
                  <a:pt x="0" y="0"/>
                </a:moveTo>
                <a:lnTo>
                  <a:pt x="2702224" y="0"/>
                </a:lnTo>
                <a:lnTo>
                  <a:pt x="2702224" y="5128855"/>
                </a:lnTo>
                <a:lnTo>
                  <a:pt x="0" y="512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12871" r="-1287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4029" y="2588829"/>
            <a:ext cx="15102565" cy="95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36"/>
              </a:lnSpc>
            </a:pPr>
            <a:r>
              <a:rPr lang="en-US" sz="7543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 James Hutton,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4029" y="1440508"/>
            <a:ext cx="15102565" cy="123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184"/>
              </a:lnSpc>
            </a:pPr>
            <a:r>
              <a:rPr lang="en-US" sz="9743" b="1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Actualismo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83691" y="3969912"/>
            <a:ext cx="10421601" cy="538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30"/>
              </a:lnSpc>
            </a:pPr>
            <a:r>
              <a:rPr lang="en-US" sz="7179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el cual establece que los procesos físicos y mecánicos que actúan hoy sobre la superficie terrestre son los mismos que actuaron en el pasado</a:t>
            </a:r>
          </a:p>
        </p:txBody>
      </p:sp>
      <p:sp>
        <p:nvSpPr>
          <p:cNvPr id="9" name="Freeform 9"/>
          <p:cNvSpPr/>
          <p:nvPr/>
        </p:nvSpPr>
        <p:spPr>
          <a:xfrm rot="8624474" flipV="1">
            <a:off x="-1891968" y="-2900"/>
            <a:ext cx="3783936" cy="4802458"/>
          </a:xfrm>
          <a:custGeom>
            <a:avLst/>
            <a:gdLst/>
            <a:ahLst/>
            <a:cxnLst/>
            <a:rect l="l" t="t" r="r" b="b"/>
            <a:pathLst>
              <a:path w="3783936" h="4802458">
                <a:moveTo>
                  <a:pt x="0" y="4802457"/>
                </a:moveTo>
                <a:lnTo>
                  <a:pt x="3783936" y="4802457"/>
                </a:lnTo>
                <a:lnTo>
                  <a:pt x="3783936" y="0"/>
                </a:lnTo>
                <a:lnTo>
                  <a:pt x="0" y="0"/>
                </a:lnTo>
                <a:lnTo>
                  <a:pt x="0" y="480245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40020" y="4293079"/>
            <a:ext cx="1028700" cy="4114800"/>
          </a:xfrm>
          <a:custGeom>
            <a:avLst/>
            <a:gdLst/>
            <a:ahLst/>
            <a:cxnLst/>
            <a:rect l="l" t="t" r="r" b="b"/>
            <a:pathLst>
              <a:path w="1028700" h="41148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029" y="3955284"/>
            <a:ext cx="2708184" cy="5132758"/>
            <a:chOff x="0" y="0"/>
            <a:chExt cx="1040107" cy="1971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0107" cy="1971290"/>
            </a:xfrm>
            <a:custGeom>
              <a:avLst/>
              <a:gdLst/>
              <a:ahLst/>
              <a:cxnLst/>
              <a:rect l="l" t="t" r="r" b="b"/>
              <a:pathLst>
                <a:path w="1040107" h="1971290">
                  <a:moveTo>
                    <a:pt x="105772" y="0"/>
                  </a:moveTo>
                  <a:lnTo>
                    <a:pt x="934335" y="0"/>
                  </a:lnTo>
                  <a:cubicBezTo>
                    <a:pt x="962387" y="0"/>
                    <a:pt x="989291" y="11144"/>
                    <a:pt x="1009127" y="30980"/>
                  </a:cubicBezTo>
                  <a:cubicBezTo>
                    <a:pt x="1028963" y="50816"/>
                    <a:pt x="1040107" y="77720"/>
                    <a:pt x="1040107" y="105772"/>
                  </a:cubicBezTo>
                  <a:lnTo>
                    <a:pt x="1040107" y="1865518"/>
                  </a:lnTo>
                  <a:cubicBezTo>
                    <a:pt x="1040107" y="1923934"/>
                    <a:pt x="992751" y="1971290"/>
                    <a:pt x="934335" y="1971290"/>
                  </a:cubicBezTo>
                  <a:lnTo>
                    <a:pt x="105772" y="1971290"/>
                  </a:lnTo>
                  <a:cubicBezTo>
                    <a:pt x="77720" y="1971290"/>
                    <a:pt x="50816" y="1960146"/>
                    <a:pt x="30980" y="1940310"/>
                  </a:cubicBezTo>
                  <a:cubicBezTo>
                    <a:pt x="11144" y="1920474"/>
                    <a:pt x="0" y="1893570"/>
                    <a:pt x="0" y="1865518"/>
                  </a:cubicBezTo>
                  <a:lnTo>
                    <a:pt x="0" y="105772"/>
                  </a:lnTo>
                  <a:cubicBezTo>
                    <a:pt x="0" y="77720"/>
                    <a:pt x="11144" y="50816"/>
                    <a:pt x="30980" y="30980"/>
                  </a:cubicBezTo>
                  <a:cubicBezTo>
                    <a:pt x="50816" y="11144"/>
                    <a:pt x="77720" y="0"/>
                    <a:pt x="10577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040107" cy="197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4029" y="3955284"/>
            <a:ext cx="2710783" cy="5132758"/>
          </a:xfrm>
          <a:custGeom>
            <a:avLst/>
            <a:gdLst/>
            <a:ahLst/>
            <a:cxnLst/>
            <a:rect l="l" t="t" r="r" b="b"/>
            <a:pathLst>
              <a:path w="2710783" h="5132758">
                <a:moveTo>
                  <a:pt x="0" y="0"/>
                </a:moveTo>
                <a:lnTo>
                  <a:pt x="2710783" y="0"/>
                </a:lnTo>
                <a:lnTo>
                  <a:pt x="2710783" y="5132758"/>
                </a:lnTo>
                <a:lnTo>
                  <a:pt x="0" y="513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06958" r="-8267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286495" y="4192047"/>
            <a:ext cx="10017306" cy="542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7127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 leyes de la física han actuado siempre con la misma intensidad y velocidad, demostrando que "el presente es la clave del pasado"</a:t>
            </a:r>
          </a:p>
        </p:txBody>
      </p:sp>
      <p:sp>
        <p:nvSpPr>
          <p:cNvPr id="7" name="Freeform 7"/>
          <p:cNvSpPr/>
          <p:nvPr/>
        </p:nvSpPr>
        <p:spPr>
          <a:xfrm rot="-4083816">
            <a:off x="13411833" y="-763763"/>
            <a:ext cx="3783936" cy="4802458"/>
          </a:xfrm>
          <a:custGeom>
            <a:avLst/>
            <a:gdLst/>
            <a:ahLst/>
            <a:cxnLst/>
            <a:rect l="l" t="t" r="r" b="b"/>
            <a:pathLst>
              <a:path w="3783936" h="4802458">
                <a:moveTo>
                  <a:pt x="0" y="0"/>
                </a:moveTo>
                <a:lnTo>
                  <a:pt x="3783936" y="0"/>
                </a:lnTo>
                <a:lnTo>
                  <a:pt x="3783936" y="4802458"/>
                </a:lnTo>
                <a:lnTo>
                  <a:pt x="0" y="4802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750462" y="4464263"/>
            <a:ext cx="1028700" cy="4114800"/>
          </a:xfrm>
          <a:custGeom>
            <a:avLst/>
            <a:gdLst/>
            <a:ahLst/>
            <a:cxnLst/>
            <a:rect l="l" t="t" r="r" b="b"/>
            <a:pathLst>
              <a:path w="1028700" h="4114800">
                <a:moveTo>
                  <a:pt x="0" y="0"/>
                </a:moveTo>
                <a:lnTo>
                  <a:pt x="1028700" y="0"/>
                </a:lnTo>
                <a:lnTo>
                  <a:pt x="10287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54029" y="2589869"/>
            <a:ext cx="10815599" cy="95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7543">
                <a:solidFill>
                  <a:srgbClr val="4F2653"/>
                </a:solidFill>
                <a:latin typeface="Poppins"/>
                <a:ea typeface="Poppins"/>
                <a:cs typeface="Poppins"/>
                <a:sym typeface="Poppins"/>
              </a:rPr>
              <a:t>Charles Lyell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4029" y="1446608"/>
            <a:ext cx="10815599" cy="12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4"/>
              </a:lnSpc>
            </a:pPr>
            <a:r>
              <a:rPr lang="en-US" sz="9743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Uniformismo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09000" y="465577"/>
            <a:ext cx="6010352" cy="9613449"/>
            <a:chOff x="0" y="0"/>
            <a:chExt cx="1582973" cy="25319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82973" cy="2531937"/>
            </a:xfrm>
            <a:custGeom>
              <a:avLst/>
              <a:gdLst/>
              <a:ahLst/>
              <a:cxnLst/>
              <a:rect l="l" t="t" r="r" b="b"/>
              <a:pathLst>
                <a:path w="1582973" h="2531937">
                  <a:moveTo>
                    <a:pt x="128810" y="0"/>
                  </a:moveTo>
                  <a:lnTo>
                    <a:pt x="1454164" y="0"/>
                  </a:lnTo>
                  <a:cubicBezTo>
                    <a:pt x="1488326" y="0"/>
                    <a:pt x="1521089" y="13571"/>
                    <a:pt x="1545246" y="37728"/>
                  </a:cubicBezTo>
                  <a:cubicBezTo>
                    <a:pt x="1569402" y="61884"/>
                    <a:pt x="1582973" y="94647"/>
                    <a:pt x="1582973" y="128810"/>
                  </a:cubicBezTo>
                  <a:lnTo>
                    <a:pt x="1582973" y="2403127"/>
                  </a:lnTo>
                  <a:cubicBezTo>
                    <a:pt x="1582973" y="2474267"/>
                    <a:pt x="1525303" y="2531937"/>
                    <a:pt x="1454164" y="2531937"/>
                  </a:cubicBezTo>
                  <a:lnTo>
                    <a:pt x="128810" y="2531937"/>
                  </a:lnTo>
                  <a:cubicBezTo>
                    <a:pt x="57670" y="2531937"/>
                    <a:pt x="0" y="2474267"/>
                    <a:pt x="0" y="2403127"/>
                  </a:cubicBezTo>
                  <a:lnTo>
                    <a:pt x="0" y="128810"/>
                  </a:lnTo>
                  <a:cubicBezTo>
                    <a:pt x="0" y="57670"/>
                    <a:pt x="57670" y="0"/>
                    <a:pt x="128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82973" cy="2560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14730" y="352384"/>
            <a:ext cx="11322283" cy="9394702"/>
          </a:xfrm>
          <a:custGeom>
            <a:avLst/>
            <a:gdLst/>
            <a:ahLst/>
            <a:cxnLst/>
            <a:rect l="l" t="t" r="r" b="b"/>
            <a:pathLst>
              <a:path w="11322283" h="9394702">
                <a:moveTo>
                  <a:pt x="0" y="0"/>
                </a:moveTo>
                <a:lnTo>
                  <a:pt x="11322283" y="0"/>
                </a:lnTo>
                <a:lnTo>
                  <a:pt x="11322283" y="9394702"/>
                </a:lnTo>
                <a:lnTo>
                  <a:pt x="0" y="939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72" b="-8337"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-1163825" y="769172"/>
            <a:ext cx="14140520" cy="101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996" b="1">
                <a:solidFill>
                  <a:srgbClr val="F8F7F5"/>
                </a:solidFill>
                <a:latin typeface="Poppins Bold"/>
                <a:ea typeface="Poppins Bold"/>
                <a:cs typeface="Poppins Bold"/>
                <a:sym typeface="Poppins Bold"/>
              </a:rPr>
              <a:t>La datación relativa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3911" y="1721607"/>
            <a:ext cx="673008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Nicolás Steno XVII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3798" y="2913441"/>
            <a:ext cx="7338841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la horizontalidad original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la continuidad lateral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el principio de superposición de estratos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el principio de sucesión faunística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3127" y="1436899"/>
            <a:ext cx="6179103" cy="4119402"/>
          </a:xfrm>
          <a:custGeom>
            <a:avLst/>
            <a:gdLst/>
            <a:ahLst/>
            <a:cxnLst/>
            <a:rect l="l" t="t" r="r" b="b"/>
            <a:pathLst>
              <a:path w="6179103" h="4119402">
                <a:moveTo>
                  <a:pt x="0" y="0"/>
                </a:moveTo>
                <a:lnTo>
                  <a:pt x="6179104" y="0"/>
                </a:lnTo>
                <a:lnTo>
                  <a:pt x="6179104" y="4119402"/>
                </a:lnTo>
                <a:lnTo>
                  <a:pt x="0" y="411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26277" y="3544763"/>
            <a:ext cx="8971670" cy="5713537"/>
          </a:xfrm>
          <a:custGeom>
            <a:avLst/>
            <a:gdLst/>
            <a:ahLst/>
            <a:cxnLst/>
            <a:rect l="l" t="t" r="r" b="b"/>
            <a:pathLst>
              <a:path w="8971670" h="5713537">
                <a:moveTo>
                  <a:pt x="0" y="0"/>
                </a:moveTo>
                <a:lnTo>
                  <a:pt x="8971670" y="0"/>
                </a:lnTo>
                <a:lnTo>
                  <a:pt x="8971670" y="5713537"/>
                </a:lnTo>
                <a:lnTo>
                  <a:pt x="0" y="5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43694"/>
            <a:ext cx="18478259" cy="11346794"/>
            <a:chOff x="0" y="0"/>
            <a:chExt cx="7096772" cy="4357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96771" cy="4357857"/>
            </a:xfrm>
            <a:custGeom>
              <a:avLst/>
              <a:gdLst/>
              <a:ahLst/>
              <a:cxnLst/>
              <a:rect l="l" t="t" r="r" b="b"/>
              <a:pathLst>
                <a:path w="7096771" h="4357857">
                  <a:moveTo>
                    <a:pt x="15502" y="0"/>
                  </a:moveTo>
                  <a:lnTo>
                    <a:pt x="7081269" y="0"/>
                  </a:lnTo>
                  <a:cubicBezTo>
                    <a:pt x="7089831" y="0"/>
                    <a:pt x="7096771" y="6941"/>
                    <a:pt x="7096771" y="15502"/>
                  </a:cubicBezTo>
                  <a:lnTo>
                    <a:pt x="7096771" y="4342355"/>
                  </a:lnTo>
                  <a:cubicBezTo>
                    <a:pt x="7096771" y="4350916"/>
                    <a:pt x="7089831" y="4357857"/>
                    <a:pt x="7081269" y="4357857"/>
                  </a:cubicBezTo>
                  <a:lnTo>
                    <a:pt x="15502" y="4357857"/>
                  </a:lnTo>
                  <a:cubicBezTo>
                    <a:pt x="6941" y="4357857"/>
                    <a:pt x="0" y="4350916"/>
                    <a:pt x="0" y="4342355"/>
                  </a:cubicBezTo>
                  <a:lnTo>
                    <a:pt x="0" y="15502"/>
                  </a:lnTo>
                  <a:cubicBezTo>
                    <a:pt x="0" y="6941"/>
                    <a:pt x="6941" y="0"/>
                    <a:pt x="15502" y="0"/>
                  </a:cubicBezTo>
                  <a:close/>
                </a:path>
              </a:pathLst>
            </a:custGeom>
            <a:solidFill>
              <a:srgbClr val="4F2653"/>
            </a:solidFill>
            <a:ln cap="rnd">
              <a:noFill/>
              <a:prstDash val="lgDash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7096772" cy="43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98649" flipH="1">
            <a:off x="16536179" y="-1105347"/>
            <a:ext cx="1515405" cy="1923306"/>
          </a:xfrm>
          <a:custGeom>
            <a:avLst/>
            <a:gdLst/>
            <a:ahLst/>
            <a:cxnLst/>
            <a:rect l="l" t="t" r="r" b="b"/>
            <a:pathLst>
              <a:path w="1515405" h="1923306">
                <a:moveTo>
                  <a:pt x="1515405" y="0"/>
                </a:moveTo>
                <a:lnTo>
                  <a:pt x="0" y="0"/>
                </a:lnTo>
                <a:lnTo>
                  <a:pt x="0" y="1923306"/>
                </a:lnTo>
                <a:lnTo>
                  <a:pt x="1515405" y="1923306"/>
                </a:lnTo>
                <a:lnTo>
                  <a:pt x="15154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Object 6"/>
          <p:cNvGraphicFramePr/>
          <p:nvPr/>
        </p:nvGraphicFramePr>
        <p:xfrm>
          <a:off x="1028700" y="3563643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81800" imgH="4902200" progId="Excel.Sheet.12">
                  <p:embed/>
                </p:oleObj>
              </mc:Choice>
              <mc:Fallback>
                <p:oleObj name="Worksheet" r:id="rId3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700" y="3563643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391766" y="2080424"/>
            <a:ext cx="10815599" cy="12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53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Desintegración atómica de isótopos inestables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6481" y="723236"/>
            <a:ext cx="14340367" cy="12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4"/>
              </a:lnSpc>
            </a:pPr>
            <a:r>
              <a:rPr lang="en-US" sz="97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La Datación Absoluta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119725" y="1823266"/>
            <a:ext cx="6800457" cy="9613449"/>
            <a:chOff x="0" y="0"/>
            <a:chExt cx="1791067" cy="25319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1067" cy="2531937"/>
            </a:xfrm>
            <a:custGeom>
              <a:avLst/>
              <a:gdLst/>
              <a:ahLst/>
              <a:cxnLst/>
              <a:rect l="l" t="t" r="r" b="b"/>
              <a:pathLst>
                <a:path w="1791067" h="2531937">
                  <a:moveTo>
                    <a:pt x="113844" y="0"/>
                  </a:moveTo>
                  <a:lnTo>
                    <a:pt x="1677223" y="0"/>
                  </a:lnTo>
                  <a:cubicBezTo>
                    <a:pt x="1707416" y="0"/>
                    <a:pt x="1736373" y="11994"/>
                    <a:pt x="1757723" y="33344"/>
                  </a:cubicBezTo>
                  <a:cubicBezTo>
                    <a:pt x="1779072" y="54694"/>
                    <a:pt x="1791067" y="83651"/>
                    <a:pt x="1791067" y="113844"/>
                  </a:cubicBezTo>
                  <a:lnTo>
                    <a:pt x="1791067" y="2418093"/>
                  </a:lnTo>
                  <a:cubicBezTo>
                    <a:pt x="1791067" y="2480967"/>
                    <a:pt x="1740097" y="2531937"/>
                    <a:pt x="1677223" y="2531937"/>
                  </a:cubicBezTo>
                  <a:lnTo>
                    <a:pt x="113844" y="2531937"/>
                  </a:lnTo>
                  <a:cubicBezTo>
                    <a:pt x="83651" y="2531937"/>
                    <a:pt x="54694" y="2519943"/>
                    <a:pt x="33344" y="2498593"/>
                  </a:cubicBezTo>
                  <a:cubicBezTo>
                    <a:pt x="11994" y="2477243"/>
                    <a:pt x="0" y="2448286"/>
                    <a:pt x="0" y="2418093"/>
                  </a:cubicBezTo>
                  <a:lnTo>
                    <a:pt x="0" y="113844"/>
                  </a:lnTo>
                  <a:cubicBezTo>
                    <a:pt x="0" y="50970"/>
                    <a:pt x="50970" y="0"/>
                    <a:pt x="1138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91067" cy="2560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119725" y="1470635"/>
            <a:ext cx="6800457" cy="9304436"/>
          </a:xfrm>
          <a:custGeom>
            <a:avLst/>
            <a:gdLst/>
            <a:ahLst/>
            <a:cxnLst/>
            <a:rect l="l" t="t" r="r" b="b"/>
            <a:pathLst>
              <a:path w="6800457" h="9304436">
                <a:moveTo>
                  <a:pt x="0" y="0"/>
                </a:moveTo>
                <a:lnTo>
                  <a:pt x="6800456" y="0"/>
                </a:lnTo>
                <a:lnTo>
                  <a:pt x="6800456" y="9304436"/>
                </a:lnTo>
                <a:lnTo>
                  <a:pt x="0" y="9304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962" r="-21936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8475" y="-447761"/>
            <a:ext cx="10622003" cy="5857982"/>
          </a:xfrm>
          <a:custGeom>
            <a:avLst/>
            <a:gdLst/>
            <a:ahLst/>
            <a:cxnLst/>
            <a:rect l="l" t="t" r="r" b="b"/>
            <a:pathLst>
              <a:path w="10622003" h="5857982">
                <a:moveTo>
                  <a:pt x="0" y="0"/>
                </a:moveTo>
                <a:lnTo>
                  <a:pt x="10622003" y="0"/>
                </a:lnTo>
                <a:lnTo>
                  <a:pt x="10622003" y="5857982"/>
                </a:lnTo>
                <a:lnTo>
                  <a:pt x="0" y="585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3616" y="1066800"/>
            <a:ext cx="9890075" cy="286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996" b="1">
                <a:solidFill>
                  <a:srgbClr val="4F2653"/>
                </a:solidFill>
                <a:latin typeface="Poppins Bold"/>
                <a:ea typeface="Poppins Bold"/>
                <a:cs typeface="Poppins Bold"/>
                <a:sym typeface="Poppins Bold"/>
              </a:rPr>
              <a:t>Métodos de Datación Radiométrica</a:t>
            </a:r>
          </a:p>
          <a:p>
            <a:pPr algn="ctr">
              <a:lnSpc>
                <a:spcPts val="7346"/>
              </a:lnSpc>
            </a:pPr>
            <a:endParaRPr lang="en-US" sz="6996" b="1">
              <a:solidFill>
                <a:srgbClr val="4F265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23069" y="3102854"/>
            <a:ext cx="98900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¿Cómo elegir el "reloj" adecuado?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53767" y="4290179"/>
            <a:ext cx="14684903" cy="501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Uranio-Plomo (U-Pb): El método ideal para las rocas más antiguas de la Tierra y minerales ultra resistentes como los circonios (Escala: miles de millones de años).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4F2653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Potasio-Argón / Argón-Argón (K-Ar / Ar-Ar): Crucial para datar rocas ígneas y metamórficas en escalas intermedias y avanzadas. Mide desde eventos volcánicos hasta la evolución de la corteza.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4F2653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4F2653"/>
                </a:solidFill>
                <a:latin typeface="Open Sauce"/>
                <a:ea typeface="Open Sauce"/>
                <a:cs typeface="Open Sauce"/>
                <a:sym typeface="Open Sauce"/>
              </a:rPr>
              <a:t>Carbono-14 (¹⁴C) [Añadido para el cierre]: El reloj para la materia orgánica reciente. Tiene una vida media corta de solo 5,730 años.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4F2653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4F2653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4F2653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4137" y="1047750"/>
            <a:ext cx="9019726" cy="133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0"/>
              </a:lnSpc>
            </a:pPr>
            <a:r>
              <a:rPr lang="en-US" sz="4781">
                <a:solidFill>
                  <a:srgbClr val="F8F7F5"/>
                </a:solidFill>
                <a:latin typeface="Poppins"/>
                <a:ea typeface="Poppins"/>
                <a:cs typeface="Poppins"/>
                <a:sym typeface="Poppins"/>
              </a:rPr>
              <a:t>Aplicación de Técnicas: El Sismo y Tsunami de 1946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93964" y="3383876"/>
            <a:ext cx="348034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Datación Relativa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8217" y="4398309"/>
            <a:ext cx="6975783" cy="108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6217" lvl="1" indent="-338108" algn="l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Principio de Superposición </a:t>
            </a:r>
          </a:p>
          <a:p>
            <a:pPr marL="676217" lvl="1" indent="-338108" algn="l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Relaciones de Corte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57644" y="3383876"/>
            <a:ext cx="379243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8F7F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Datación Absoluta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4398309"/>
            <a:ext cx="6975783" cy="53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6217" lvl="1" indent="-338108" algn="r">
              <a:lnSpc>
                <a:spcPts val="4384"/>
              </a:lnSpc>
              <a:buFont typeface="Arial"/>
              <a:buChar char="•"/>
            </a:pPr>
            <a:r>
              <a:rPr lang="en-US" sz="3132">
                <a:solidFill>
                  <a:srgbClr val="F8F7F5"/>
                </a:solidFill>
                <a:latin typeface="Open Sauce"/>
                <a:ea typeface="Open Sauce"/>
                <a:cs typeface="Open Sauce"/>
                <a:sym typeface="Open Sauce"/>
              </a:rPr>
              <a:t>Datación por Carbono-14 (¹⁴C).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190" y="4911423"/>
            <a:ext cx="9786112" cy="227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1"/>
              </a:lnSpc>
            </a:pPr>
            <a:r>
              <a:rPr lang="en-US" sz="15420" b="1">
                <a:solidFill>
                  <a:srgbClr val="EE5C66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gracias!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5174980" y="2010997"/>
            <a:ext cx="13473131" cy="6265006"/>
          </a:xfrm>
          <a:custGeom>
            <a:avLst/>
            <a:gdLst/>
            <a:ahLst/>
            <a:cxnLst/>
            <a:rect l="l" t="t" r="r" b="b"/>
            <a:pathLst>
              <a:path w="13473131" h="6265006">
                <a:moveTo>
                  <a:pt x="0" y="0"/>
                </a:moveTo>
                <a:lnTo>
                  <a:pt x="13473130" y="0"/>
                </a:lnTo>
                <a:lnTo>
                  <a:pt x="13473130" y="6265006"/>
                </a:lnTo>
                <a:lnTo>
                  <a:pt x="0" y="6265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74090" y="2654654"/>
            <a:ext cx="10447110" cy="277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12"/>
              </a:lnSpc>
              <a:spcBef>
                <a:spcPct val="0"/>
              </a:spcBef>
            </a:pPr>
            <a:r>
              <a:rPr lang="en-US" sz="15366">
                <a:solidFill>
                  <a:srgbClr val="EE5C66"/>
                </a:solidFill>
                <a:latin typeface="Poppins"/>
                <a:ea typeface="Poppins"/>
                <a:cs typeface="Poppins"/>
                <a:sym typeface="Poppins"/>
              </a:rPr>
              <a:t>¡Muchas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Personalizado</PresentationFormat>
  <Paragraphs>48</Paragraphs>
  <Slides>11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Open Sans</vt:lpstr>
      <vt:lpstr>Calibri</vt:lpstr>
      <vt:lpstr>Open Sauce Bold</vt:lpstr>
      <vt:lpstr>Arial</vt:lpstr>
      <vt:lpstr>Poppins Bold</vt:lpstr>
      <vt:lpstr>Poppins</vt:lpstr>
      <vt:lpstr>Open Sauce Semi-Bold</vt:lpstr>
      <vt:lpstr>Open Sauce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geografía ilustrativo violeta y rosa</dc:title>
  <cp:lastModifiedBy>Rhaymar Matos Garcia</cp:lastModifiedBy>
  <cp:revision>2</cp:revision>
  <dcterms:created xsi:type="dcterms:W3CDTF">2006-08-16T00:00:00Z</dcterms:created>
  <dcterms:modified xsi:type="dcterms:W3CDTF">2026-08-31T20:28:26Z</dcterms:modified>
  <dc:identifier>DAHT3JH_MiY</dc:identifier>
</cp:coreProperties>
</file>